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Valor en estantería</c:v>
                </c:pt>
              </c:strCache>
            </c:strRef>
          </c:tx>
          <c:spPr>
            <a:solidFill>
              <a:srgbClr val="004226"/>
            </a:solidFill>
            <a:effectLst/>
          </c:spPr>
          <c:invertIfNegative val="0"/>
          <c:dLbls>
            <c:numFmt formatCode="#,##0 &quot;€&quot;" sourceLinked="0"/>
            <c:txPr>
              <a:bodyPr/>
              <a:lstStyle/>
              <a:p>
                <a:pPr>
                  <a:defRPr b="0" i="0" strike="noStrike" sz="1000" u="none">
                    <a:solidFill>
                      <a:srgbClr val="4A4A4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Reponer</c:v>
                  </c:pt>
                  <c:pt idx="1">
                    <c:v>Destacar</c:v>
                  </c:pt>
                  <c:pt idx="2">
                    <c:v>Vigilar</c:v>
                  </c:pt>
                  <c:pt idx="3">
                    <c:v>Mantener</c:v>
                  </c:pt>
                  <c:pt idx="4">
                    <c:v>Liquidar</c:v>
                  </c:pt>
                  <c:pt idx="5">
                    <c:v>Devolver</c:v>
                  </c:pt>
                </c:lvl>
              </c:multiLvlStrCache>
            </c:multiLvlStrRef>
          </c:cat>
          <c:val>
            <c:numRef>
              <c:f>Sheet1!$B$2:$B$7</c:f>
              <c:numCache>
                <c:formatCode>General</c:formatCode>
                <c:ptCount val="6"/>
                <c:pt idx="0">
                  <c:v>137</c:v>
                </c:pt>
                <c:pt idx="1">
                  <c:v>2519</c:v>
                </c:pt>
                <c:pt idx="2">
                  <c:v>3232</c:v>
                </c:pt>
                <c:pt idx="3">
                  <c:v>5156</c:v>
                </c:pt>
                <c:pt idx="4">
                  <c:v>24813</c:v>
                </c:pt>
                <c:pt idx="5">
                  <c:v>28409</c:v>
                </c:pt>
              </c:numCache>
            </c:numRef>
          </c:val>
        </c:ser>
        <c:dLbls>
          <c:numFmt formatCode="#,##0 &quot;€&quot;" sourceLinked="0"/>
          <c:txPr>
            <a:bodyPr/>
            <a:lstStyle/>
            <a:p>
              <a:pPr>
                <a:defRPr b="0" i="0" strike="noStrike" sz="1000" u="none">
                  <a:solidFill>
                    <a:srgbClr val="4A4A4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4A4A"/>
                </a:solidFill>
                <a:latin typeface="Calibri"/>
              </a:defRPr>
            </a:pPr>
            <a:endParaRPr lang="en-US"/>
          </a:p>
        </c:txPr>
        <c:crossAx val="2094734552"/>
        <c:crosses val="autoZero"/>
        <c:auto val="1"/>
        <c:lblAlgn val="ctr"/>
        <c:noMultiLvlLbl val="1"/>
      </c:catAx>
      <c:valAx>
        <c:axId val="2094734552"/>
        <c:scaling>
          <c:orientation val="minMax"/>
          <c:max val="34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BFAF8"/>
        </a:solidFill>
        <a:ln>
          <a:noFill/>
        </a:ln>
        <a:effectLst/>
      </c:spPr>
    </c:plotArea>
    <c:plotVisOnly val="1"/>
    <c:dispBlanksAs val="span"/>
  </c:chart>
  <c:spPr>
    <a:solidFill>
      <a:srgbClr val="FBFAF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preparado para la reunión de socios. Refuerza el Eje 01 del plan (liberar caja del stock) con medición real en vez de estimación.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 son 2.364 títulos de 2.780. La rotación se calcula como valor del stock dividido por venta media mensual.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tasas (60% devolución, 30% descuento) son supuestos configurables. Con las tasas reales el número se recalcula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226"/>
        </a:solidFill>
      </p:bgPr>
    </p:bg>
    <p:spTree>
      <p:nvGrpSpPr>
        <p:cNvPr id="1" name=""/>
        <p:cNvGrpSpPr/>
        <p:nvPr/>
      </p:nvGrpSpPr>
      <p:grpSpPr>
        <a:xfrm>
          <a:off x="0" y="0"/>
          <a:ext cx="0" cy="0"/>
          <a:chOff x="0" y="0"/>
          <a:chExt cx="0" cy="0"/>
        </a:xfrm>
      </p:grpSpPr>
      <p:sp>
        <p:nvSpPr>
          <p:cNvPr id="2" name="Text 0"/>
          <p:cNvSpPr/>
          <p:nvPr/>
        </p:nvSpPr>
        <p:spPr>
          <a:xfrm>
            <a:off x="548640" y="1325880"/>
            <a:ext cx="5486400" cy="274320"/>
          </a:xfrm>
          <a:prstGeom prst="rect">
            <a:avLst/>
          </a:prstGeom>
          <a:noFill/>
          <a:ln/>
        </p:spPr>
        <p:txBody>
          <a:bodyPr wrap="square" lIns="0" tIns="0" rIns="0" bIns="0" rtlCol="0" anchor="ctr"/>
          <a:lstStyle/>
          <a:p>
            <a:pPr indent="0" marL="0">
              <a:buNone/>
            </a:pPr>
            <a:r>
              <a:rPr lang="en-US" sz="1100" b="1" spc="200" kern="0" dirty="0">
                <a:solidFill>
                  <a:srgbClr val="E2D4CB"/>
                </a:solidFill>
                <a:latin typeface="Calibri" pitchFamily="34" charset="0"/>
                <a:ea typeface="Calibri" pitchFamily="34" charset="-122"/>
                <a:cs typeface="Calibri" pitchFamily="34" charset="-120"/>
              </a:rPr>
              <a:t>ANEXO AL PLAN DE REACTIVACIÓN</a:t>
            </a:r>
            <a:endParaRPr lang="en-US" sz="1100" dirty="0"/>
          </a:p>
        </p:txBody>
      </p:sp>
      <p:sp>
        <p:nvSpPr>
          <p:cNvPr id="3" name="Text 1"/>
          <p:cNvSpPr/>
          <p:nvPr/>
        </p:nvSpPr>
        <p:spPr>
          <a:xfrm>
            <a:off x="548640" y="1691640"/>
            <a:ext cx="5669280" cy="137160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Calibri" pitchFamily="34" charset="0"/>
                <a:ea typeface="Calibri" pitchFamily="34" charset="-122"/>
                <a:cs typeface="Calibri" pitchFamily="34" charset="-120"/>
              </a:rPr>
              <a:t>Análisis de stock</a:t>
            </a:r>
            <a:endParaRPr lang="en-US" sz="4000" dirty="0"/>
          </a:p>
          <a:p>
            <a:pPr indent="0" marL="0">
              <a:lnSpc>
                <a:spcPts val="4400"/>
              </a:lnSpc>
              <a:buNone/>
            </a:pPr>
            <a:r>
              <a:rPr lang="en-US" sz="4000" b="1" dirty="0">
                <a:solidFill>
                  <a:srgbClr val="FFFFFF"/>
                </a:solidFill>
                <a:latin typeface="Calibri" pitchFamily="34" charset="0"/>
                <a:ea typeface="Calibri" pitchFamily="34" charset="-122"/>
                <a:cs typeface="Calibri" pitchFamily="34" charset="-120"/>
              </a:rPr>
              <a:t>y rotación</a:t>
            </a:r>
            <a:endParaRPr lang="en-US" sz="4000" dirty="0"/>
          </a:p>
        </p:txBody>
      </p:sp>
      <p:sp>
        <p:nvSpPr>
          <p:cNvPr id="4" name="Text 2"/>
          <p:cNvSpPr/>
          <p:nvPr/>
        </p:nvSpPr>
        <p:spPr>
          <a:xfrm>
            <a:off x="566928" y="3154680"/>
            <a:ext cx="5486400" cy="640080"/>
          </a:xfrm>
          <a:prstGeom prst="rect">
            <a:avLst/>
          </a:prstGeom>
          <a:noFill/>
          <a:ln/>
        </p:spPr>
        <p:txBody>
          <a:bodyPr wrap="square" lIns="0" tIns="0" rIns="0" bIns="0" rtlCol="0" anchor="ctr"/>
          <a:lstStyle/>
          <a:p>
            <a:pPr indent="0" marL="0">
              <a:lnSpc>
                <a:spcPts val="2200"/>
              </a:lnSpc>
              <a:buNone/>
            </a:pPr>
            <a:r>
              <a:rPr lang="en-US" sz="1400" dirty="0">
                <a:solidFill>
                  <a:srgbClr val="C8DCD0"/>
                </a:solidFill>
                <a:latin typeface="Calibri" pitchFamily="34" charset="0"/>
                <a:ea typeface="Calibri" pitchFamily="34" charset="-122"/>
                <a:cs typeface="Calibri" pitchFamily="34" charset="-120"/>
              </a:rPr>
              <a:t>Qué dicen los datos cuando se cruza el inventario</a:t>
            </a:r>
            <a:endParaRPr lang="en-US" sz="1400" dirty="0"/>
          </a:p>
          <a:p>
            <a:pPr indent="0" marL="0">
              <a:lnSpc>
                <a:spcPts val="2200"/>
              </a:lnSpc>
              <a:buNone/>
            </a:pPr>
            <a:r>
              <a:rPr lang="en-US" sz="1400" dirty="0">
                <a:solidFill>
                  <a:srgbClr val="C8DCD0"/>
                </a:solidFill>
                <a:latin typeface="Calibri" pitchFamily="34" charset="0"/>
                <a:ea typeface="Calibri" pitchFamily="34" charset="-122"/>
                <a:cs typeface="Calibri" pitchFamily="34" charset="-120"/>
              </a:rPr>
              <a:t>contra 13 meses de ventas reales</a:t>
            </a:r>
            <a:endParaRPr lang="en-US" sz="1400" dirty="0"/>
          </a:p>
        </p:txBody>
      </p:sp>
      <p:sp>
        <p:nvSpPr>
          <p:cNvPr id="5" name="Text 3"/>
          <p:cNvSpPr/>
          <p:nvPr/>
        </p:nvSpPr>
        <p:spPr>
          <a:xfrm>
            <a:off x="566928" y="4069080"/>
            <a:ext cx="5943600" cy="274320"/>
          </a:xfrm>
          <a:prstGeom prst="rect">
            <a:avLst/>
          </a:prstGeom>
          <a:noFill/>
          <a:ln/>
        </p:spPr>
        <p:txBody>
          <a:bodyPr wrap="square" lIns="0" tIns="0" rIns="0" bIns="0" rtlCol="0" anchor="ctr"/>
          <a:lstStyle/>
          <a:p>
            <a:pPr indent="0" marL="0">
              <a:buNone/>
            </a:pPr>
            <a:r>
              <a:rPr lang="en-US" sz="1000" dirty="0">
                <a:solidFill>
                  <a:srgbClr val="8FB3A0"/>
                </a:solidFill>
                <a:latin typeface="Calibri" pitchFamily="34" charset="0"/>
                <a:ea typeface="Calibri" pitchFamily="34" charset="-122"/>
                <a:cs typeface="Calibri" pitchFamily="34" charset="-120"/>
              </a:rPr>
              <a:t>Stock a mayo 2026  ·  Ventas junio 2025 – junio 2026  ·  Fuente: Geslib</a:t>
            </a:r>
            <a:endParaRPr lang="en-US" sz="1000" dirty="0"/>
          </a:p>
        </p:txBody>
      </p:sp>
      <p:sp>
        <p:nvSpPr>
          <p:cNvPr id="6" name="Shape 4"/>
          <p:cNvSpPr/>
          <p:nvPr/>
        </p:nvSpPr>
        <p:spPr>
          <a:xfrm>
            <a:off x="6446520" y="1691640"/>
            <a:ext cx="2286000" cy="1783080"/>
          </a:xfrm>
          <a:prstGeom prst="roundRect">
            <a:avLst>
              <a:gd name="adj" fmla="val 3077"/>
            </a:avLst>
          </a:prstGeom>
          <a:solidFill>
            <a:srgbClr val="0A5534"/>
          </a:solidFill>
          <a:ln w="12700">
            <a:solidFill>
              <a:srgbClr val="0A5534"/>
            </a:solidFill>
            <a:prstDash val="solid"/>
          </a:ln>
        </p:spPr>
      </p:sp>
      <p:sp>
        <p:nvSpPr>
          <p:cNvPr id="7" name="Text 5"/>
          <p:cNvSpPr/>
          <p:nvPr/>
        </p:nvSpPr>
        <p:spPr>
          <a:xfrm>
            <a:off x="6446520" y="1965960"/>
            <a:ext cx="2286000" cy="68580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€53.221</a:t>
            </a:r>
            <a:endParaRPr lang="en-US" sz="3400" dirty="0"/>
          </a:p>
        </p:txBody>
      </p:sp>
      <p:sp>
        <p:nvSpPr>
          <p:cNvPr id="8" name="Text 6"/>
          <p:cNvSpPr/>
          <p:nvPr/>
        </p:nvSpPr>
        <p:spPr>
          <a:xfrm>
            <a:off x="6446520" y="2697480"/>
            <a:ext cx="2286000" cy="640080"/>
          </a:xfrm>
          <a:prstGeom prst="rect">
            <a:avLst/>
          </a:prstGeom>
          <a:noFill/>
          <a:ln/>
        </p:spPr>
        <p:txBody>
          <a:bodyPr wrap="square" lIns="0" tIns="0" rIns="0" bIns="0" rtlCol="0" anchor="ctr"/>
          <a:lstStyle/>
          <a:p>
            <a:pPr algn="ctr" indent="0" marL="0">
              <a:lnSpc>
                <a:spcPts val="1700"/>
              </a:lnSpc>
              <a:buNone/>
            </a:pPr>
            <a:r>
              <a:rPr lang="en-US" sz="1200" dirty="0">
                <a:solidFill>
                  <a:srgbClr val="C8DCD0"/>
                </a:solidFill>
                <a:latin typeface="Calibri" pitchFamily="34" charset="0"/>
                <a:ea typeface="Calibri" pitchFamily="34" charset="-122"/>
                <a:cs typeface="Calibri" pitchFamily="34" charset="-120"/>
              </a:rPr>
              <a:t>de capital parado</a:t>
            </a:r>
            <a:endParaRPr lang="en-US" sz="1200" dirty="0"/>
          </a:p>
          <a:p>
            <a:pPr algn="ctr" indent="0" marL="0">
              <a:lnSpc>
                <a:spcPts val="1700"/>
              </a:lnSpc>
              <a:buNone/>
            </a:pPr>
            <a:r>
              <a:rPr lang="en-US" sz="1200" dirty="0">
                <a:solidFill>
                  <a:srgbClr val="C8DCD0"/>
                </a:solidFill>
                <a:latin typeface="Calibri" pitchFamily="34" charset="0"/>
                <a:ea typeface="Calibri" pitchFamily="34" charset="-122"/>
                <a:cs typeface="Calibri" pitchFamily="34" charset="-120"/>
              </a:rPr>
              <a:t>en las estanterías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Qué hicimos</a:t>
            </a:r>
            <a:endParaRPr lang="en-US" sz="3400" dirty="0"/>
          </a:p>
        </p:txBody>
      </p:sp>
      <p:sp>
        <p:nvSpPr>
          <p:cNvPr id="3" name="Text 1"/>
          <p:cNvSpPr/>
          <p:nvPr/>
        </p:nvSpPr>
        <p:spPr>
          <a:xfrm>
            <a:off x="566928" y="102412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Por primera vez cruzamos las dos fuentes que hasta ahora mirábamos por separado</a:t>
            </a:r>
            <a:endParaRPr lang="en-US" sz="1300" dirty="0"/>
          </a:p>
        </p:txBody>
      </p:sp>
      <p:sp>
        <p:nvSpPr>
          <p:cNvPr id="4" name="Shape 2"/>
          <p:cNvSpPr/>
          <p:nvPr/>
        </p:nvSpPr>
        <p:spPr>
          <a:xfrm>
            <a:off x="548640" y="1508760"/>
            <a:ext cx="8046720" cy="868680"/>
          </a:xfrm>
          <a:prstGeom prst="roundRect">
            <a:avLst>
              <a:gd name="adj" fmla="val 6316"/>
            </a:avLst>
          </a:prstGeom>
          <a:solidFill>
            <a:srgbClr val="FFFFFF"/>
          </a:solidFill>
          <a:ln w="12700">
            <a:solidFill>
              <a:srgbClr val="E8E6E2"/>
            </a:solidFill>
            <a:prstDash val="solid"/>
          </a:ln>
        </p:spPr>
      </p:sp>
      <p:sp>
        <p:nvSpPr>
          <p:cNvPr id="5" name="Shape 3"/>
          <p:cNvSpPr/>
          <p:nvPr/>
        </p:nvSpPr>
        <p:spPr>
          <a:xfrm>
            <a:off x="777240" y="1728216"/>
            <a:ext cx="429768" cy="429768"/>
          </a:xfrm>
          <a:prstGeom prst="ellipse">
            <a:avLst/>
          </a:prstGeom>
          <a:solidFill>
            <a:srgbClr val="004226"/>
          </a:solidFill>
          <a:ln w="12700">
            <a:solidFill>
              <a:srgbClr val="004226"/>
            </a:solidFill>
            <a:prstDash val="solid"/>
          </a:ln>
        </p:spPr>
      </p:sp>
      <p:sp>
        <p:nvSpPr>
          <p:cNvPr id="6" name="Text 4"/>
          <p:cNvSpPr/>
          <p:nvPr/>
        </p:nvSpPr>
        <p:spPr>
          <a:xfrm>
            <a:off x="777240" y="1728216"/>
            <a:ext cx="429768" cy="4297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655064"/>
            <a:ext cx="6858000" cy="274320"/>
          </a:xfrm>
          <a:prstGeom prst="rect">
            <a:avLst/>
          </a:prstGeom>
          <a:noFill/>
          <a:ln/>
        </p:spPr>
        <p:txBody>
          <a:bodyPr wrap="square" lIns="0" tIns="0" rIns="0" bIns="0" rtlCol="0" anchor="ctr"/>
          <a:lstStyle/>
          <a:p>
            <a:pPr indent="0" marL="0">
              <a:buNone/>
            </a:pPr>
            <a:r>
              <a:rPr lang="en-US" sz="1500" b="1" dirty="0">
                <a:solidFill>
                  <a:srgbClr val="004226"/>
                </a:solidFill>
                <a:latin typeface="Calibri" pitchFamily="34" charset="0"/>
                <a:ea typeface="Calibri" pitchFamily="34" charset="-122"/>
                <a:cs typeface="Calibri" pitchFamily="34" charset="-120"/>
              </a:rPr>
              <a:t>El inventario completo</a:t>
            </a:r>
            <a:endParaRPr lang="en-US" sz="1500" dirty="0"/>
          </a:p>
        </p:txBody>
      </p:sp>
      <p:sp>
        <p:nvSpPr>
          <p:cNvPr id="8" name="Text 6"/>
          <p:cNvSpPr/>
          <p:nvPr/>
        </p:nvSpPr>
        <p:spPr>
          <a:xfrm>
            <a:off x="1417320" y="1947672"/>
            <a:ext cx="6949440" cy="292608"/>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2.780 títulos y 3.863 ejemplares con su valor a PVP, exportados de Geslib.</a:t>
            </a:r>
            <a:endParaRPr lang="en-US" sz="1200" dirty="0"/>
          </a:p>
        </p:txBody>
      </p:sp>
      <p:sp>
        <p:nvSpPr>
          <p:cNvPr id="9" name="Shape 7"/>
          <p:cNvSpPr/>
          <p:nvPr/>
        </p:nvSpPr>
        <p:spPr>
          <a:xfrm>
            <a:off x="548640" y="2532888"/>
            <a:ext cx="8046720" cy="868680"/>
          </a:xfrm>
          <a:prstGeom prst="roundRect">
            <a:avLst>
              <a:gd name="adj" fmla="val 6316"/>
            </a:avLst>
          </a:prstGeom>
          <a:solidFill>
            <a:srgbClr val="FFFFFF"/>
          </a:solidFill>
          <a:ln w="12700">
            <a:solidFill>
              <a:srgbClr val="E8E6E2"/>
            </a:solidFill>
            <a:prstDash val="solid"/>
          </a:ln>
        </p:spPr>
      </p:sp>
      <p:sp>
        <p:nvSpPr>
          <p:cNvPr id="10" name="Shape 8"/>
          <p:cNvSpPr/>
          <p:nvPr/>
        </p:nvSpPr>
        <p:spPr>
          <a:xfrm>
            <a:off x="777240" y="2752344"/>
            <a:ext cx="429768" cy="429768"/>
          </a:xfrm>
          <a:prstGeom prst="ellipse">
            <a:avLst/>
          </a:prstGeom>
          <a:solidFill>
            <a:srgbClr val="004226"/>
          </a:solidFill>
          <a:ln w="12700">
            <a:solidFill>
              <a:srgbClr val="004226"/>
            </a:solidFill>
            <a:prstDash val="solid"/>
          </a:ln>
        </p:spPr>
      </p:sp>
      <p:sp>
        <p:nvSpPr>
          <p:cNvPr id="11" name="Text 9"/>
          <p:cNvSpPr/>
          <p:nvPr/>
        </p:nvSpPr>
        <p:spPr>
          <a:xfrm>
            <a:off x="777240" y="2752344"/>
            <a:ext cx="429768" cy="4297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417320" y="2679192"/>
            <a:ext cx="6858000" cy="274320"/>
          </a:xfrm>
          <a:prstGeom prst="rect">
            <a:avLst/>
          </a:prstGeom>
          <a:noFill/>
          <a:ln/>
        </p:spPr>
        <p:txBody>
          <a:bodyPr wrap="square" lIns="0" tIns="0" rIns="0" bIns="0" rtlCol="0" anchor="ctr"/>
          <a:lstStyle/>
          <a:p>
            <a:pPr indent="0" marL="0">
              <a:buNone/>
            </a:pPr>
            <a:r>
              <a:rPr lang="en-US" sz="1500" b="1" dirty="0">
                <a:solidFill>
                  <a:srgbClr val="004226"/>
                </a:solidFill>
                <a:latin typeface="Calibri" pitchFamily="34" charset="0"/>
                <a:ea typeface="Calibri" pitchFamily="34" charset="-122"/>
                <a:cs typeface="Calibri" pitchFamily="34" charset="-120"/>
              </a:rPr>
              <a:t>13 meses de ventas</a:t>
            </a:r>
            <a:endParaRPr lang="en-US" sz="1500" dirty="0"/>
          </a:p>
        </p:txBody>
      </p:sp>
      <p:sp>
        <p:nvSpPr>
          <p:cNvPr id="13" name="Text 11"/>
          <p:cNvSpPr/>
          <p:nvPr/>
        </p:nvSpPr>
        <p:spPr>
          <a:xfrm>
            <a:off x="1417320" y="2971800"/>
            <a:ext cx="6949440" cy="292608"/>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Todas las ventas de mostrador del 3 de junio de 2025 al 26 de junio de 2026, título por título.</a:t>
            </a:r>
            <a:endParaRPr lang="en-US" sz="1200" dirty="0"/>
          </a:p>
        </p:txBody>
      </p:sp>
      <p:sp>
        <p:nvSpPr>
          <p:cNvPr id="14" name="Shape 12"/>
          <p:cNvSpPr/>
          <p:nvPr/>
        </p:nvSpPr>
        <p:spPr>
          <a:xfrm>
            <a:off x="548640" y="3557016"/>
            <a:ext cx="8046720" cy="868680"/>
          </a:xfrm>
          <a:prstGeom prst="roundRect">
            <a:avLst>
              <a:gd name="adj" fmla="val 6316"/>
            </a:avLst>
          </a:prstGeom>
          <a:solidFill>
            <a:srgbClr val="FFFFFF"/>
          </a:solidFill>
          <a:ln w="12700">
            <a:solidFill>
              <a:srgbClr val="E8E6E2"/>
            </a:solidFill>
            <a:prstDash val="solid"/>
          </a:ln>
        </p:spPr>
      </p:sp>
      <p:sp>
        <p:nvSpPr>
          <p:cNvPr id="15" name="Shape 13"/>
          <p:cNvSpPr/>
          <p:nvPr/>
        </p:nvSpPr>
        <p:spPr>
          <a:xfrm>
            <a:off x="777240" y="3776472"/>
            <a:ext cx="429768" cy="429768"/>
          </a:xfrm>
          <a:prstGeom prst="ellipse">
            <a:avLst/>
          </a:prstGeom>
          <a:solidFill>
            <a:srgbClr val="004226"/>
          </a:solidFill>
          <a:ln w="12700">
            <a:solidFill>
              <a:srgbClr val="004226"/>
            </a:solidFill>
            <a:prstDash val="solid"/>
          </a:ln>
        </p:spPr>
      </p:sp>
      <p:sp>
        <p:nvSpPr>
          <p:cNvPr id="16" name="Text 14"/>
          <p:cNvSpPr/>
          <p:nvPr/>
        </p:nvSpPr>
        <p:spPr>
          <a:xfrm>
            <a:off x="777240" y="3776472"/>
            <a:ext cx="429768" cy="4297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3703320"/>
            <a:ext cx="6858000" cy="274320"/>
          </a:xfrm>
          <a:prstGeom prst="rect">
            <a:avLst/>
          </a:prstGeom>
          <a:noFill/>
          <a:ln/>
        </p:spPr>
        <p:txBody>
          <a:bodyPr wrap="square" lIns="0" tIns="0" rIns="0" bIns="0" rtlCol="0" anchor="ctr"/>
          <a:lstStyle/>
          <a:p>
            <a:pPr indent="0" marL="0">
              <a:buNone/>
            </a:pPr>
            <a:r>
              <a:rPr lang="en-US" sz="1500" b="1" dirty="0">
                <a:solidFill>
                  <a:srgbClr val="004226"/>
                </a:solidFill>
                <a:latin typeface="Calibri" pitchFamily="34" charset="0"/>
                <a:ea typeface="Calibri" pitchFamily="34" charset="-122"/>
                <a:cs typeface="Calibri" pitchFamily="34" charset="-120"/>
              </a:rPr>
              <a:t>El cruce</a:t>
            </a:r>
            <a:endParaRPr lang="en-US" sz="1500" dirty="0"/>
          </a:p>
        </p:txBody>
      </p:sp>
      <p:sp>
        <p:nvSpPr>
          <p:cNvPr id="18" name="Text 16"/>
          <p:cNvSpPr/>
          <p:nvPr/>
        </p:nvSpPr>
        <p:spPr>
          <a:xfrm>
            <a:off x="1417320" y="3995928"/>
            <a:ext cx="6949440" cy="292608"/>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Cada título del stock contra su histórico real de venta. Sin muestras ni estimaciones.</a:t>
            </a:r>
            <a:endParaRPr lang="en-US" sz="1200" dirty="0"/>
          </a:p>
        </p:txBody>
      </p:sp>
      <p:sp>
        <p:nvSpPr>
          <p:cNvPr id="19" name="Text 17"/>
          <p:cNvSpPr/>
          <p:nvPr/>
        </p:nvSpPr>
        <p:spPr>
          <a:xfrm>
            <a:off x="566928" y="4590288"/>
            <a:ext cx="8046720" cy="274320"/>
          </a:xfrm>
          <a:prstGeom prst="rect">
            <a:avLst/>
          </a:prstGeom>
          <a:noFill/>
          <a:ln/>
        </p:spPr>
        <p:txBody>
          <a:bodyPr wrap="square" lIns="0" tIns="0" rIns="0" bIns="0" rtlCol="0" anchor="ctr"/>
          <a:lstStyle/>
          <a:p>
            <a:pPr indent="0" marL="0">
              <a:buNone/>
            </a:pPr>
            <a:r>
              <a:rPr lang="en-US" sz="1050" i="1" dirty="0">
                <a:solidFill>
                  <a:srgbClr val="6B6B6B"/>
                </a:solidFill>
                <a:latin typeface="Calibri" pitchFamily="34" charset="0"/>
                <a:ea typeface="Calibri" pitchFamily="34" charset="-122"/>
                <a:cs typeface="Calibri" pitchFamily="34" charset="-120"/>
              </a:rPr>
              <a:t>Lo hace un programa: se le dan los dos archivos y devuelve siempre el mismo resultado. Auditable y repetible todas las semanas.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El hallazgo principal</a:t>
            </a:r>
            <a:endParaRPr lang="en-US" sz="3400" dirty="0"/>
          </a:p>
        </p:txBody>
      </p:sp>
      <p:sp>
        <p:nvSpPr>
          <p:cNvPr id="3" name="Text 1"/>
          <p:cNvSpPr/>
          <p:nvPr/>
        </p:nvSpPr>
        <p:spPr>
          <a:xfrm>
            <a:off x="566928" y="102412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El stock no rota despacio: en su mayor parte no rota</a:t>
            </a:r>
            <a:endParaRPr lang="en-US" sz="1300" dirty="0"/>
          </a:p>
        </p:txBody>
      </p:sp>
      <p:sp>
        <p:nvSpPr>
          <p:cNvPr id="4" name="Shape 2"/>
          <p:cNvSpPr/>
          <p:nvPr/>
        </p:nvSpPr>
        <p:spPr>
          <a:xfrm>
            <a:off x="548640" y="1481328"/>
            <a:ext cx="1883664" cy="1371600"/>
          </a:xfrm>
          <a:prstGeom prst="roundRect">
            <a:avLst>
              <a:gd name="adj" fmla="val 4000"/>
            </a:avLst>
          </a:prstGeom>
          <a:solidFill>
            <a:srgbClr val="F8E9E8"/>
          </a:solidFill>
          <a:ln w="12700">
            <a:solidFill>
              <a:srgbClr val="F8E9E8"/>
            </a:solidFill>
            <a:prstDash val="solid"/>
          </a:ln>
        </p:spPr>
      </p:sp>
      <p:sp>
        <p:nvSpPr>
          <p:cNvPr id="5" name="Text 3"/>
          <p:cNvSpPr/>
          <p:nvPr/>
        </p:nvSpPr>
        <p:spPr>
          <a:xfrm>
            <a:off x="548640" y="1627632"/>
            <a:ext cx="1883664" cy="502920"/>
          </a:xfrm>
          <a:prstGeom prst="rect">
            <a:avLst/>
          </a:prstGeom>
          <a:noFill/>
          <a:ln/>
        </p:spPr>
        <p:txBody>
          <a:bodyPr wrap="square" lIns="0" tIns="0" rIns="0" bIns="0" rtlCol="0" anchor="ctr"/>
          <a:lstStyle/>
          <a:p>
            <a:pPr algn="ctr" indent="0" marL="0">
              <a:buNone/>
            </a:pPr>
            <a:r>
              <a:rPr lang="en-US" sz="2700" b="1" dirty="0">
                <a:solidFill>
                  <a:srgbClr val="004226"/>
                </a:solidFill>
                <a:latin typeface="Calibri" pitchFamily="34" charset="0"/>
                <a:ea typeface="Calibri" pitchFamily="34" charset="-122"/>
                <a:cs typeface="Calibri" pitchFamily="34" charset="-120"/>
              </a:rPr>
              <a:t>85%</a:t>
            </a:r>
            <a:endParaRPr lang="en-US" sz="2700" dirty="0"/>
          </a:p>
        </p:txBody>
      </p:sp>
      <p:sp>
        <p:nvSpPr>
          <p:cNvPr id="6" name="Text 4"/>
          <p:cNvSpPr/>
          <p:nvPr/>
        </p:nvSpPr>
        <p:spPr>
          <a:xfrm>
            <a:off x="640080" y="2176272"/>
            <a:ext cx="1700784" cy="566928"/>
          </a:xfrm>
          <a:prstGeom prst="rect">
            <a:avLst/>
          </a:prstGeom>
          <a:noFill/>
          <a:ln/>
        </p:spPr>
        <p:txBody>
          <a:bodyPr wrap="square" lIns="0" tIns="0" rIns="0" bIns="0" rtlCol="0" anchor="ctr"/>
          <a:lstStyle/>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de los títulos no vendió</a:t>
            </a:r>
            <a:endParaRPr lang="en-US" sz="1000" dirty="0"/>
          </a:p>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ni una sola vez en 13 meses</a:t>
            </a:r>
            <a:endParaRPr lang="en-US" sz="1000" dirty="0"/>
          </a:p>
        </p:txBody>
      </p:sp>
      <p:sp>
        <p:nvSpPr>
          <p:cNvPr id="7" name="Shape 5"/>
          <p:cNvSpPr/>
          <p:nvPr/>
        </p:nvSpPr>
        <p:spPr>
          <a:xfrm>
            <a:off x="2596896" y="1481328"/>
            <a:ext cx="1883664" cy="1371600"/>
          </a:xfrm>
          <a:prstGeom prst="roundRect">
            <a:avLst>
              <a:gd name="adj" fmla="val 4000"/>
            </a:avLst>
          </a:prstGeom>
          <a:solidFill>
            <a:srgbClr val="F8E9E8"/>
          </a:solidFill>
          <a:ln w="12700">
            <a:solidFill>
              <a:srgbClr val="F8E9E8"/>
            </a:solidFill>
            <a:prstDash val="solid"/>
          </a:ln>
        </p:spPr>
      </p:sp>
      <p:sp>
        <p:nvSpPr>
          <p:cNvPr id="8" name="Text 6"/>
          <p:cNvSpPr/>
          <p:nvPr/>
        </p:nvSpPr>
        <p:spPr>
          <a:xfrm>
            <a:off x="2596896" y="1627632"/>
            <a:ext cx="1883664" cy="502920"/>
          </a:xfrm>
          <a:prstGeom prst="rect">
            <a:avLst/>
          </a:prstGeom>
          <a:noFill/>
          <a:ln/>
        </p:spPr>
        <p:txBody>
          <a:bodyPr wrap="square" lIns="0" tIns="0" rIns="0" bIns="0" rtlCol="0" anchor="ctr"/>
          <a:lstStyle/>
          <a:p>
            <a:pPr algn="ctr" indent="0" marL="0">
              <a:buNone/>
            </a:pPr>
            <a:r>
              <a:rPr lang="en-US" sz="2700" b="1" dirty="0">
                <a:solidFill>
                  <a:srgbClr val="004226"/>
                </a:solidFill>
                <a:latin typeface="Calibri" pitchFamily="34" charset="0"/>
                <a:ea typeface="Calibri" pitchFamily="34" charset="-122"/>
                <a:cs typeface="Calibri" pitchFamily="34" charset="-120"/>
              </a:rPr>
              <a:t>€53.221</a:t>
            </a:r>
            <a:endParaRPr lang="en-US" sz="2700" dirty="0"/>
          </a:p>
        </p:txBody>
      </p:sp>
      <p:sp>
        <p:nvSpPr>
          <p:cNvPr id="9" name="Text 7"/>
          <p:cNvSpPr/>
          <p:nvPr/>
        </p:nvSpPr>
        <p:spPr>
          <a:xfrm>
            <a:off x="2688336" y="2176272"/>
            <a:ext cx="1700784" cy="566928"/>
          </a:xfrm>
          <a:prstGeom prst="rect">
            <a:avLst/>
          </a:prstGeom>
          <a:noFill/>
          <a:ln/>
        </p:spPr>
        <p:txBody>
          <a:bodyPr wrap="square" lIns="0" tIns="0" rIns="0" bIns="0" rtlCol="0" anchor="ctr"/>
          <a:lstStyle/>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de capital inmovilizado</a:t>
            </a:r>
            <a:endParaRPr lang="en-US" sz="1000" dirty="0"/>
          </a:p>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(83% del valor del stock)</a:t>
            </a:r>
            <a:endParaRPr lang="en-US" sz="1000" dirty="0"/>
          </a:p>
        </p:txBody>
      </p:sp>
      <p:sp>
        <p:nvSpPr>
          <p:cNvPr id="10" name="Shape 8"/>
          <p:cNvSpPr/>
          <p:nvPr/>
        </p:nvSpPr>
        <p:spPr>
          <a:xfrm>
            <a:off x="4645152" y="1481328"/>
            <a:ext cx="1883664" cy="1371600"/>
          </a:xfrm>
          <a:prstGeom prst="roundRect">
            <a:avLst>
              <a:gd name="adj" fmla="val 4000"/>
            </a:avLst>
          </a:prstGeom>
          <a:solidFill>
            <a:srgbClr val="F8E9E8"/>
          </a:solidFill>
          <a:ln w="12700">
            <a:solidFill>
              <a:srgbClr val="F8E9E8"/>
            </a:solidFill>
            <a:prstDash val="solid"/>
          </a:ln>
        </p:spPr>
      </p:sp>
      <p:sp>
        <p:nvSpPr>
          <p:cNvPr id="11" name="Text 9"/>
          <p:cNvSpPr/>
          <p:nvPr/>
        </p:nvSpPr>
        <p:spPr>
          <a:xfrm>
            <a:off x="4645152" y="1627632"/>
            <a:ext cx="1883664" cy="502920"/>
          </a:xfrm>
          <a:prstGeom prst="rect">
            <a:avLst/>
          </a:prstGeom>
          <a:noFill/>
          <a:ln/>
        </p:spPr>
        <p:txBody>
          <a:bodyPr wrap="square" lIns="0" tIns="0" rIns="0" bIns="0" rtlCol="0" anchor="ctr"/>
          <a:lstStyle/>
          <a:p>
            <a:pPr algn="ctr" indent="0" marL="0">
              <a:buNone/>
            </a:pPr>
            <a:r>
              <a:rPr lang="en-US" sz="2700" b="1" dirty="0">
                <a:solidFill>
                  <a:srgbClr val="004226"/>
                </a:solidFill>
                <a:latin typeface="Calibri" pitchFamily="34" charset="0"/>
                <a:ea typeface="Calibri" pitchFamily="34" charset="-122"/>
                <a:cs typeface="Calibri" pitchFamily="34" charset="-120"/>
              </a:rPr>
              <a:t>30,2</a:t>
            </a:r>
            <a:endParaRPr lang="en-US" sz="2700" dirty="0"/>
          </a:p>
        </p:txBody>
      </p:sp>
      <p:sp>
        <p:nvSpPr>
          <p:cNvPr id="12" name="Text 10"/>
          <p:cNvSpPr/>
          <p:nvPr/>
        </p:nvSpPr>
        <p:spPr>
          <a:xfrm>
            <a:off x="4736592" y="2176272"/>
            <a:ext cx="1700784" cy="566928"/>
          </a:xfrm>
          <a:prstGeom prst="rect">
            <a:avLst/>
          </a:prstGeom>
          <a:noFill/>
          <a:ln/>
        </p:spPr>
        <p:txBody>
          <a:bodyPr wrap="square" lIns="0" tIns="0" rIns="0" bIns="0" rtlCol="0" anchor="ctr"/>
          <a:lstStyle/>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meses de rotación</a:t>
            </a:r>
            <a:endParaRPr lang="en-US" sz="1000" dirty="0"/>
          </a:p>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El estándar del sector son 6</a:t>
            </a:r>
            <a:endParaRPr lang="en-US" sz="1000" dirty="0"/>
          </a:p>
        </p:txBody>
      </p:sp>
      <p:sp>
        <p:nvSpPr>
          <p:cNvPr id="13" name="Shape 11"/>
          <p:cNvSpPr/>
          <p:nvPr/>
        </p:nvSpPr>
        <p:spPr>
          <a:xfrm>
            <a:off x="6693408" y="1481328"/>
            <a:ext cx="1883664" cy="1371600"/>
          </a:xfrm>
          <a:prstGeom prst="roundRect">
            <a:avLst>
              <a:gd name="adj" fmla="val 4000"/>
            </a:avLst>
          </a:prstGeom>
          <a:solidFill>
            <a:srgbClr val="E3EEE8"/>
          </a:solidFill>
          <a:ln w="12700">
            <a:solidFill>
              <a:srgbClr val="E3EEE8"/>
            </a:solidFill>
            <a:prstDash val="solid"/>
          </a:ln>
        </p:spPr>
      </p:sp>
      <p:sp>
        <p:nvSpPr>
          <p:cNvPr id="14" name="Text 12"/>
          <p:cNvSpPr/>
          <p:nvPr/>
        </p:nvSpPr>
        <p:spPr>
          <a:xfrm>
            <a:off x="6693408" y="1627632"/>
            <a:ext cx="1883664" cy="502920"/>
          </a:xfrm>
          <a:prstGeom prst="rect">
            <a:avLst/>
          </a:prstGeom>
          <a:noFill/>
          <a:ln/>
        </p:spPr>
        <p:txBody>
          <a:bodyPr wrap="square" lIns="0" tIns="0" rIns="0" bIns="0" rtlCol="0" anchor="ctr"/>
          <a:lstStyle/>
          <a:p>
            <a:pPr algn="ctr" indent="0" marL="0">
              <a:buNone/>
            </a:pPr>
            <a:r>
              <a:rPr lang="en-US" sz="2700" b="1" dirty="0">
                <a:solidFill>
                  <a:srgbClr val="004226"/>
                </a:solidFill>
                <a:latin typeface="Calibri" pitchFamily="34" charset="0"/>
                <a:ea typeface="Calibri" pitchFamily="34" charset="-122"/>
                <a:cs typeface="Calibri" pitchFamily="34" charset="-120"/>
              </a:rPr>
              <a:t>€2.129</a:t>
            </a:r>
            <a:endParaRPr lang="en-US" sz="2700" dirty="0"/>
          </a:p>
        </p:txBody>
      </p:sp>
      <p:sp>
        <p:nvSpPr>
          <p:cNvPr id="15" name="Text 13"/>
          <p:cNvSpPr/>
          <p:nvPr/>
        </p:nvSpPr>
        <p:spPr>
          <a:xfrm>
            <a:off x="6784848" y="2176272"/>
            <a:ext cx="1700784" cy="566928"/>
          </a:xfrm>
          <a:prstGeom prst="rect">
            <a:avLst/>
          </a:prstGeom>
          <a:noFill/>
          <a:ln/>
        </p:spPr>
        <p:txBody>
          <a:bodyPr wrap="square" lIns="0" tIns="0" rIns="0" bIns="0" rtlCol="0" anchor="ctr"/>
          <a:lstStyle/>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de venta media mensual</a:t>
            </a:r>
            <a:endParaRPr lang="en-US" sz="1000" dirty="0"/>
          </a:p>
          <a:p>
            <a:pPr algn="ctr" indent="0" marL="0">
              <a:lnSpc>
                <a:spcPts val="1300"/>
              </a:lnSpc>
              <a:buNone/>
            </a:pPr>
            <a:r>
              <a:rPr lang="en-US" sz="1000" dirty="0">
                <a:solidFill>
                  <a:srgbClr val="4A4A4A"/>
                </a:solidFill>
                <a:latin typeface="Calibri" pitchFamily="34" charset="0"/>
                <a:ea typeface="Calibri" pitchFamily="34" charset="-122"/>
                <a:cs typeface="Calibri" pitchFamily="34" charset="-120"/>
              </a:rPr>
              <a:t>contra €64.266 en estantería</a:t>
            </a:r>
            <a:endParaRPr lang="en-US" sz="1000" dirty="0"/>
          </a:p>
        </p:txBody>
      </p:sp>
      <p:sp>
        <p:nvSpPr>
          <p:cNvPr id="16" name="Shape 14"/>
          <p:cNvSpPr/>
          <p:nvPr/>
        </p:nvSpPr>
        <p:spPr>
          <a:xfrm>
            <a:off x="548640" y="3063240"/>
            <a:ext cx="8046720" cy="1481328"/>
          </a:xfrm>
          <a:prstGeom prst="roundRect">
            <a:avLst>
              <a:gd name="adj" fmla="val 3704"/>
            </a:avLst>
          </a:prstGeom>
          <a:solidFill>
            <a:srgbClr val="004226"/>
          </a:solidFill>
          <a:ln w="12700">
            <a:solidFill>
              <a:srgbClr val="004226"/>
            </a:solidFill>
            <a:prstDash val="solid"/>
          </a:ln>
        </p:spPr>
      </p:sp>
      <p:sp>
        <p:nvSpPr>
          <p:cNvPr id="17" name="Text 15"/>
          <p:cNvSpPr/>
          <p:nvPr/>
        </p:nvSpPr>
        <p:spPr>
          <a:xfrm>
            <a:off x="868680" y="3273552"/>
            <a:ext cx="7498080"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Los dos errores conviven</a:t>
            </a:r>
            <a:endParaRPr lang="en-US" sz="1800" dirty="0"/>
          </a:p>
        </p:txBody>
      </p:sp>
      <p:sp>
        <p:nvSpPr>
          <p:cNvPr id="18" name="Text 16"/>
          <p:cNvSpPr/>
          <p:nvPr/>
        </p:nvSpPr>
        <p:spPr>
          <a:xfrm>
            <a:off x="868680" y="3657600"/>
            <a:ext cx="7406640" cy="685800"/>
          </a:xfrm>
          <a:prstGeom prst="rect">
            <a:avLst/>
          </a:prstGeom>
          <a:noFill/>
          <a:ln/>
        </p:spPr>
        <p:txBody>
          <a:bodyPr wrap="square" lIns="0" tIns="0" rIns="0" bIns="0" rtlCol="0" anchor="ctr"/>
          <a:lstStyle/>
          <a:p>
            <a:pPr indent="0" marL="0">
              <a:lnSpc>
                <a:spcPts val="1900"/>
              </a:lnSpc>
              <a:buNone/>
            </a:pPr>
            <a:r>
              <a:rPr lang="en-US" sz="1300" dirty="0">
                <a:solidFill>
                  <a:srgbClr val="C8DCD0"/>
                </a:solidFill>
                <a:latin typeface="Calibri" pitchFamily="34" charset="0"/>
                <a:ea typeface="Calibri" pitchFamily="34" charset="-122"/>
                <a:cs typeface="Calibri" pitchFamily="34" charset="-120"/>
              </a:rPr>
              <a:t>Hay dinero parado en libros que nadie compra y, al mismo tiempo, faltan ejemplares de los libros que sí se venden. De los diez títulos más vendidos del año, cinco están hoy en cero ejemplares.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Dónde está la plata</a:t>
            </a:r>
            <a:endParaRPr lang="en-US" sz="3400" dirty="0"/>
          </a:p>
        </p:txBody>
      </p:sp>
      <p:sp>
        <p:nvSpPr>
          <p:cNvPr id="3" name="Text 1"/>
          <p:cNvSpPr/>
          <p:nvPr/>
        </p:nvSpPr>
        <p:spPr>
          <a:xfrm>
            <a:off x="566928" y="97840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Cada título del inventario quedó clasificado en una de estas seis categorías</a:t>
            </a:r>
            <a:endParaRPr lang="en-US" sz="1300" dirty="0"/>
          </a:p>
        </p:txBody>
      </p:sp>
      <p:graphicFrame>
        <p:nvGraphicFramePr>
          <p:cNvPr id="4" name="Chart 0" descr=""/>
          <p:cNvGraphicFramePr/>
          <p:nvPr/>
        </p:nvGraphicFramePr>
        <p:xfrm>
          <a:off x="548640" y="1371600"/>
          <a:ext cx="4709160" cy="31546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0" y="138988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Devolver</a:t>
            </a:r>
            <a:endParaRPr lang="en-US" sz="1250" dirty="0"/>
          </a:p>
        </p:txBody>
      </p:sp>
      <p:sp>
        <p:nvSpPr>
          <p:cNvPr id="6" name="Text 3"/>
          <p:cNvSpPr/>
          <p:nvPr/>
        </p:nvSpPr>
        <p:spPr>
          <a:xfrm>
            <a:off x="5486400" y="158191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1.748 títulos · 1 ejemplar cada uno</a:t>
            </a:r>
            <a:endParaRPr lang="en-US" sz="950" dirty="0"/>
          </a:p>
        </p:txBody>
      </p:sp>
      <p:sp>
        <p:nvSpPr>
          <p:cNvPr id="7" name="Text 4"/>
          <p:cNvSpPr/>
          <p:nvPr/>
        </p:nvSpPr>
        <p:spPr>
          <a:xfrm>
            <a:off x="5486400" y="173278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Cero ventas. Devolución al distribuidor.</a:t>
            </a:r>
            <a:endParaRPr lang="en-US" sz="900" dirty="0"/>
          </a:p>
        </p:txBody>
      </p:sp>
      <p:sp>
        <p:nvSpPr>
          <p:cNvPr id="8" name="Text 5"/>
          <p:cNvSpPr/>
          <p:nvPr/>
        </p:nvSpPr>
        <p:spPr>
          <a:xfrm>
            <a:off x="5486400" y="191566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Liquidar</a:t>
            </a:r>
            <a:endParaRPr lang="en-US" sz="1250" dirty="0"/>
          </a:p>
        </p:txBody>
      </p:sp>
      <p:sp>
        <p:nvSpPr>
          <p:cNvPr id="9" name="Text 6"/>
          <p:cNvSpPr/>
          <p:nvPr/>
        </p:nvSpPr>
        <p:spPr>
          <a:xfrm>
            <a:off x="5486400" y="210769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616 títulos · 1.424 ejemplares</a:t>
            </a:r>
            <a:endParaRPr lang="en-US" sz="950" dirty="0"/>
          </a:p>
        </p:txBody>
      </p:sp>
      <p:sp>
        <p:nvSpPr>
          <p:cNvPr id="10" name="Text 7"/>
          <p:cNvSpPr/>
          <p:nvPr/>
        </p:nvSpPr>
        <p:spPr>
          <a:xfrm>
            <a:off x="5486400" y="225856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Cero ventas y stock repetido. Mesa de descuento.</a:t>
            </a:r>
            <a:endParaRPr lang="en-US" sz="900" dirty="0"/>
          </a:p>
        </p:txBody>
      </p:sp>
      <p:sp>
        <p:nvSpPr>
          <p:cNvPr id="11" name="Text 8"/>
          <p:cNvSpPr/>
          <p:nvPr/>
        </p:nvSpPr>
        <p:spPr>
          <a:xfrm>
            <a:off x="5486400" y="244144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Mantener</a:t>
            </a:r>
            <a:endParaRPr lang="en-US" sz="1250" dirty="0"/>
          </a:p>
        </p:txBody>
      </p:sp>
      <p:sp>
        <p:nvSpPr>
          <p:cNvPr id="12" name="Text 9"/>
          <p:cNvSpPr/>
          <p:nvPr/>
        </p:nvSpPr>
        <p:spPr>
          <a:xfrm>
            <a:off x="5486400" y="263347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264 títulos</a:t>
            </a:r>
            <a:endParaRPr lang="en-US" sz="950" dirty="0"/>
          </a:p>
        </p:txBody>
      </p:sp>
      <p:sp>
        <p:nvSpPr>
          <p:cNvPr id="13" name="Text 10"/>
          <p:cNvSpPr/>
          <p:nvPr/>
        </p:nvSpPr>
        <p:spPr>
          <a:xfrm>
            <a:off x="5486400" y="278434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Rotación baja pero viva. Sin acción.</a:t>
            </a:r>
            <a:endParaRPr lang="en-US" sz="900" dirty="0"/>
          </a:p>
        </p:txBody>
      </p:sp>
      <p:sp>
        <p:nvSpPr>
          <p:cNvPr id="14" name="Text 11"/>
          <p:cNvSpPr/>
          <p:nvPr/>
        </p:nvSpPr>
        <p:spPr>
          <a:xfrm>
            <a:off x="5486400" y="296722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Vigilar</a:t>
            </a:r>
            <a:endParaRPr lang="en-US" sz="1250" dirty="0"/>
          </a:p>
        </p:txBody>
      </p:sp>
      <p:sp>
        <p:nvSpPr>
          <p:cNvPr id="15" name="Text 12"/>
          <p:cNvSpPr/>
          <p:nvPr/>
        </p:nvSpPr>
        <p:spPr>
          <a:xfrm>
            <a:off x="5486400" y="315925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60 títulos · 214 ejemplares</a:t>
            </a:r>
            <a:endParaRPr lang="en-US" sz="950" dirty="0"/>
          </a:p>
        </p:txBody>
      </p:sp>
      <p:sp>
        <p:nvSpPr>
          <p:cNvPr id="16" name="Text 13"/>
          <p:cNvSpPr/>
          <p:nvPr/>
        </p:nvSpPr>
        <p:spPr>
          <a:xfrm>
            <a:off x="5486400" y="331012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Una sola venta y varios ejemplares. Revisar en un mes.</a:t>
            </a:r>
            <a:endParaRPr lang="en-US" sz="900" dirty="0"/>
          </a:p>
        </p:txBody>
      </p:sp>
      <p:sp>
        <p:nvSpPr>
          <p:cNvPr id="17" name="Text 14"/>
          <p:cNvSpPr/>
          <p:nvPr/>
        </p:nvSpPr>
        <p:spPr>
          <a:xfrm>
            <a:off x="5486400" y="349300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Destacar</a:t>
            </a:r>
            <a:endParaRPr lang="en-US" sz="1250" dirty="0"/>
          </a:p>
        </p:txBody>
      </p:sp>
      <p:sp>
        <p:nvSpPr>
          <p:cNvPr id="18" name="Text 15"/>
          <p:cNvSpPr/>
          <p:nvPr/>
        </p:nvSpPr>
        <p:spPr>
          <a:xfrm>
            <a:off x="5486400" y="368503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53 títulos · 167 ejemplares</a:t>
            </a:r>
            <a:endParaRPr lang="en-US" sz="950" dirty="0"/>
          </a:p>
        </p:txBody>
      </p:sp>
      <p:sp>
        <p:nvSpPr>
          <p:cNvPr id="19" name="Text 16"/>
          <p:cNvSpPr/>
          <p:nvPr/>
        </p:nvSpPr>
        <p:spPr>
          <a:xfrm>
            <a:off x="5486400" y="383590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Venden y hay stock. Al mostrador.</a:t>
            </a:r>
            <a:endParaRPr lang="en-US" sz="900" dirty="0"/>
          </a:p>
        </p:txBody>
      </p:sp>
      <p:sp>
        <p:nvSpPr>
          <p:cNvPr id="20" name="Text 17"/>
          <p:cNvSpPr/>
          <p:nvPr/>
        </p:nvSpPr>
        <p:spPr>
          <a:xfrm>
            <a:off x="5486400" y="4018788"/>
            <a:ext cx="1188720" cy="201168"/>
          </a:xfrm>
          <a:prstGeom prst="rect">
            <a:avLst/>
          </a:prstGeom>
          <a:noFill/>
          <a:ln/>
        </p:spPr>
        <p:txBody>
          <a:bodyPr wrap="square" lIns="0" tIns="0" rIns="0" bIns="0" rtlCol="0" anchor="ctr"/>
          <a:lstStyle/>
          <a:p>
            <a:pPr indent="0" marL="0">
              <a:buNone/>
            </a:pPr>
            <a:r>
              <a:rPr lang="en-US" sz="1250" b="1" dirty="0">
                <a:solidFill>
                  <a:srgbClr val="004226"/>
                </a:solidFill>
                <a:latin typeface="Calibri" pitchFamily="34" charset="0"/>
                <a:ea typeface="Calibri" pitchFamily="34" charset="-122"/>
                <a:cs typeface="Calibri" pitchFamily="34" charset="-120"/>
              </a:rPr>
              <a:t>Reponer</a:t>
            </a:r>
            <a:endParaRPr lang="en-US" sz="1250" dirty="0"/>
          </a:p>
        </p:txBody>
      </p:sp>
      <p:sp>
        <p:nvSpPr>
          <p:cNvPr id="21" name="Text 18"/>
          <p:cNvSpPr/>
          <p:nvPr/>
        </p:nvSpPr>
        <p:spPr>
          <a:xfrm>
            <a:off x="5486400" y="4210812"/>
            <a:ext cx="3154680" cy="182880"/>
          </a:xfrm>
          <a:prstGeom prst="rect">
            <a:avLst/>
          </a:prstGeom>
          <a:noFill/>
          <a:ln/>
        </p:spPr>
        <p:txBody>
          <a:bodyPr wrap="square" lIns="0" tIns="0" rIns="0" bIns="0" rtlCol="0" anchor="ctr"/>
          <a:lstStyle/>
          <a:p>
            <a:pPr indent="0" marL="0">
              <a:buNone/>
            </a:pPr>
            <a:r>
              <a:rPr lang="en-US" sz="950" dirty="0">
                <a:solidFill>
                  <a:srgbClr val="4A4A4A"/>
                </a:solidFill>
                <a:latin typeface="Calibri" pitchFamily="34" charset="0"/>
                <a:ea typeface="Calibri" pitchFamily="34" charset="-122"/>
                <a:cs typeface="Calibri" pitchFamily="34" charset="-120"/>
              </a:rPr>
              <a:t>39 títulos · 6 ejemplares</a:t>
            </a:r>
            <a:endParaRPr lang="en-US" sz="950" dirty="0"/>
          </a:p>
        </p:txBody>
      </p:sp>
      <p:sp>
        <p:nvSpPr>
          <p:cNvPr id="22" name="Text 19"/>
          <p:cNvSpPr/>
          <p:nvPr/>
        </p:nvSpPr>
        <p:spPr>
          <a:xfrm>
            <a:off x="5486400" y="4361688"/>
            <a:ext cx="3154680" cy="182880"/>
          </a:xfrm>
          <a:prstGeom prst="rect">
            <a:avLst/>
          </a:prstGeom>
          <a:noFill/>
          <a:ln/>
        </p:spPr>
        <p:txBody>
          <a:bodyPr wrap="square" lIns="0" tIns="0" rIns="0" bIns="0" rtlCol="0" anchor="ctr"/>
          <a:lstStyle/>
          <a:p>
            <a:pPr indent="0" marL="0">
              <a:buNone/>
            </a:pPr>
            <a:r>
              <a:rPr lang="en-US" sz="900" i="1" dirty="0">
                <a:solidFill>
                  <a:srgbClr val="6B6B6B"/>
                </a:solidFill>
                <a:latin typeface="Calibri" pitchFamily="34" charset="0"/>
                <a:ea typeface="Calibri" pitchFamily="34" charset="-122"/>
                <a:cs typeface="Calibri" pitchFamily="34" charset="-120"/>
              </a:rPr>
              <a:t>Venden y no hay. Pedido urgente.</a:t>
            </a:r>
            <a:endParaRPr lang="en-US" sz="900" dirty="0"/>
          </a:p>
        </p:txBody>
      </p:sp>
      <p:sp>
        <p:nvSpPr>
          <p:cNvPr id="23" name="Text 20"/>
          <p:cNvSpPr/>
          <p:nvPr/>
        </p:nvSpPr>
        <p:spPr>
          <a:xfrm>
            <a:off x="566928" y="4617720"/>
            <a:ext cx="8046720" cy="274320"/>
          </a:xfrm>
          <a:prstGeom prst="rect">
            <a:avLst/>
          </a:prstGeom>
          <a:noFill/>
          <a:ln/>
        </p:spPr>
        <p:txBody>
          <a:bodyPr wrap="square" lIns="0" tIns="0" rIns="0" bIns="0" rtlCol="0" anchor="ctr"/>
          <a:lstStyle/>
          <a:p>
            <a:pPr indent="0" marL="0">
              <a:buNone/>
            </a:pPr>
            <a:r>
              <a:rPr lang="en-US" sz="1100" b="1" dirty="0">
                <a:solidFill>
                  <a:srgbClr val="004226"/>
                </a:solidFill>
                <a:latin typeface="Calibri" pitchFamily="34" charset="0"/>
                <a:ea typeface="Calibri" pitchFamily="34" charset="-122"/>
                <a:cs typeface="Calibri" pitchFamily="34" charset="-120"/>
              </a:rPr>
              <a:t>Devolver y liquidar concentran €53.221: el 83% del valor del inventario.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Lo que hay que sacar</a:t>
            </a:r>
            <a:endParaRPr lang="en-US" sz="3400" dirty="0"/>
          </a:p>
        </p:txBody>
      </p:sp>
      <p:sp>
        <p:nvSpPr>
          <p:cNvPr id="3" name="Text 1"/>
          <p:cNvSpPr/>
          <p:nvPr/>
        </p:nvSpPr>
        <p:spPr>
          <a:xfrm>
            <a:off x="566928" y="97840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Los diez títulos que más capital retienen sin haber vendido nunca</a:t>
            </a:r>
            <a:endParaRPr lang="en-US" sz="1300" dirty="0"/>
          </a:p>
        </p:txBody>
      </p:sp>
      <p:sp>
        <p:nvSpPr>
          <p:cNvPr id="4" name="Shape 2"/>
          <p:cNvSpPr/>
          <p:nvPr/>
        </p:nvSpPr>
        <p:spPr>
          <a:xfrm>
            <a:off x="548640" y="1371600"/>
            <a:ext cx="4892040" cy="2788920"/>
          </a:xfrm>
          <a:prstGeom prst="roundRect">
            <a:avLst>
              <a:gd name="adj" fmla="val 1967"/>
            </a:avLst>
          </a:prstGeom>
          <a:solidFill>
            <a:srgbClr val="FFFFFF"/>
          </a:solidFill>
          <a:ln w="12700">
            <a:solidFill>
              <a:srgbClr val="E8E6E2"/>
            </a:solidFill>
            <a:prstDash val="solid"/>
          </a:ln>
        </p:spPr>
      </p:sp>
      <p:sp>
        <p:nvSpPr>
          <p:cNvPr id="5" name="Text 3"/>
          <p:cNvSpPr/>
          <p:nvPr/>
        </p:nvSpPr>
        <p:spPr>
          <a:xfrm>
            <a:off x="777240" y="1517904"/>
            <a:ext cx="2926080" cy="182880"/>
          </a:xfrm>
          <a:prstGeom prst="rect">
            <a:avLst/>
          </a:prstGeom>
          <a:noFill/>
          <a:ln/>
        </p:spPr>
        <p:txBody>
          <a:bodyPr wrap="square" lIns="0" tIns="0" rIns="0" bIns="0" rtlCol="0" anchor="ctr"/>
          <a:lstStyle/>
          <a:p>
            <a:pPr indent="0" marL="0">
              <a:buNone/>
            </a:pPr>
            <a:r>
              <a:rPr lang="en-US" sz="850" b="1" spc="100" kern="0" dirty="0">
                <a:solidFill>
                  <a:srgbClr val="6B6B6B"/>
                </a:solidFill>
                <a:latin typeface="Calibri" pitchFamily="34" charset="0"/>
                <a:ea typeface="Calibri" pitchFamily="34" charset="-122"/>
                <a:cs typeface="Calibri" pitchFamily="34" charset="-120"/>
              </a:rPr>
              <a:t>TÍTULO</a:t>
            </a:r>
            <a:endParaRPr lang="en-US" sz="850" dirty="0"/>
          </a:p>
        </p:txBody>
      </p:sp>
      <p:sp>
        <p:nvSpPr>
          <p:cNvPr id="6" name="Text 4"/>
          <p:cNvSpPr/>
          <p:nvPr/>
        </p:nvSpPr>
        <p:spPr>
          <a:xfrm>
            <a:off x="3749040" y="1517904"/>
            <a:ext cx="685800" cy="182880"/>
          </a:xfrm>
          <a:prstGeom prst="rect">
            <a:avLst/>
          </a:prstGeom>
          <a:noFill/>
          <a:ln/>
        </p:spPr>
        <p:txBody>
          <a:bodyPr wrap="square" lIns="0" tIns="0" rIns="0" bIns="0" rtlCol="0" anchor="ctr"/>
          <a:lstStyle/>
          <a:p>
            <a:pPr algn="r" indent="0" marL="0">
              <a:buNone/>
            </a:pPr>
            <a:r>
              <a:rPr lang="en-US" sz="850" b="1" spc="100" kern="0" dirty="0">
                <a:solidFill>
                  <a:srgbClr val="6B6B6B"/>
                </a:solidFill>
                <a:latin typeface="Calibri" pitchFamily="34" charset="0"/>
                <a:ea typeface="Calibri" pitchFamily="34" charset="-122"/>
                <a:cs typeface="Calibri" pitchFamily="34" charset="-120"/>
              </a:rPr>
              <a:t>EJEMPL.</a:t>
            </a:r>
            <a:endParaRPr lang="en-US" sz="850" dirty="0"/>
          </a:p>
        </p:txBody>
      </p:sp>
      <p:sp>
        <p:nvSpPr>
          <p:cNvPr id="7" name="Text 5"/>
          <p:cNvSpPr/>
          <p:nvPr/>
        </p:nvSpPr>
        <p:spPr>
          <a:xfrm>
            <a:off x="4480560" y="1517904"/>
            <a:ext cx="731520" cy="182880"/>
          </a:xfrm>
          <a:prstGeom prst="rect">
            <a:avLst/>
          </a:prstGeom>
          <a:noFill/>
          <a:ln/>
        </p:spPr>
        <p:txBody>
          <a:bodyPr wrap="square" lIns="0" tIns="0" rIns="0" bIns="0" rtlCol="0" anchor="ctr"/>
          <a:lstStyle/>
          <a:p>
            <a:pPr algn="r" indent="0" marL="0">
              <a:buNone/>
            </a:pPr>
            <a:r>
              <a:rPr lang="en-US" sz="850" b="1" spc="100" kern="0" dirty="0">
                <a:solidFill>
                  <a:srgbClr val="6B6B6B"/>
                </a:solidFill>
                <a:latin typeface="Calibri" pitchFamily="34" charset="0"/>
                <a:ea typeface="Calibri" pitchFamily="34" charset="-122"/>
                <a:cs typeface="Calibri" pitchFamily="34" charset="-120"/>
              </a:rPr>
              <a:t>VALOR</a:t>
            </a:r>
            <a:endParaRPr lang="en-US" sz="850" dirty="0"/>
          </a:p>
        </p:txBody>
      </p:sp>
      <p:sp>
        <p:nvSpPr>
          <p:cNvPr id="8" name="Text 6"/>
          <p:cNvSpPr/>
          <p:nvPr/>
        </p:nvSpPr>
        <p:spPr>
          <a:xfrm>
            <a:off x="777240" y="1764792"/>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Cubanías</a:t>
            </a:r>
            <a:endParaRPr lang="en-US" sz="1000" dirty="0"/>
          </a:p>
        </p:txBody>
      </p:sp>
      <p:sp>
        <p:nvSpPr>
          <p:cNvPr id="9" name="Text 7"/>
          <p:cNvSpPr/>
          <p:nvPr/>
        </p:nvSpPr>
        <p:spPr>
          <a:xfrm>
            <a:off x="3749040" y="1764792"/>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15</a:t>
            </a:r>
            <a:endParaRPr lang="en-US" sz="1000" dirty="0"/>
          </a:p>
        </p:txBody>
      </p:sp>
      <p:sp>
        <p:nvSpPr>
          <p:cNvPr id="10" name="Text 8"/>
          <p:cNvSpPr/>
          <p:nvPr/>
        </p:nvSpPr>
        <p:spPr>
          <a:xfrm>
            <a:off x="4480560" y="1764792"/>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€279</a:t>
            </a:r>
            <a:endParaRPr lang="en-US" sz="1000" dirty="0"/>
          </a:p>
        </p:txBody>
      </p:sp>
      <p:sp>
        <p:nvSpPr>
          <p:cNvPr id="11" name="Text 9"/>
          <p:cNvSpPr/>
          <p:nvPr/>
        </p:nvSpPr>
        <p:spPr>
          <a:xfrm>
            <a:off x="777240" y="1997964"/>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Quicksilver Saga Alquimia &amp; Fae vol. 1</a:t>
            </a:r>
            <a:endParaRPr lang="en-US" sz="1000" dirty="0"/>
          </a:p>
        </p:txBody>
      </p:sp>
      <p:sp>
        <p:nvSpPr>
          <p:cNvPr id="12" name="Text 10"/>
          <p:cNvSpPr/>
          <p:nvPr/>
        </p:nvSpPr>
        <p:spPr>
          <a:xfrm>
            <a:off x="3749040" y="1997964"/>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10</a:t>
            </a:r>
            <a:endParaRPr lang="en-US" sz="1000" dirty="0"/>
          </a:p>
        </p:txBody>
      </p:sp>
      <p:sp>
        <p:nvSpPr>
          <p:cNvPr id="13" name="Text 11"/>
          <p:cNvSpPr/>
          <p:nvPr/>
        </p:nvSpPr>
        <p:spPr>
          <a:xfrm>
            <a:off x="4480560" y="1997964"/>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€240</a:t>
            </a:r>
            <a:endParaRPr lang="en-US" sz="1000" dirty="0"/>
          </a:p>
        </p:txBody>
      </p:sp>
      <p:sp>
        <p:nvSpPr>
          <p:cNvPr id="14" name="Text 12"/>
          <p:cNvSpPr/>
          <p:nvPr/>
        </p:nvSpPr>
        <p:spPr>
          <a:xfrm>
            <a:off x="777240" y="2231136"/>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Golpe militar y dictadura en Argentina</a:t>
            </a:r>
            <a:endParaRPr lang="en-US" sz="1000" dirty="0"/>
          </a:p>
        </p:txBody>
      </p:sp>
      <p:sp>
        <p:nvSpPr>
          <p:cNvPr id="15" name="Text 13"/>
          <p:cNvSpPr/>
          <p:nvPr/>
        </p:nvSpPr>
        <p:spPr>
          <a:xfrm>
            <a:off x="3749040" y="2231136"/>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9</a:t>
            </a:r>
            <a:endParaRPr lang="en-US" sz="1000" dirty="0"/>
          </a:p>
        </p:txBody>
      </p:sp>
      <p:sp>
        <p:nvSpPr>
          <p:cNvPr id="16" name="Text 14"/>
          <p:cNvSpPr/>
          <p:nvPr/>
        </p:nvSpPr>
        <p:spPr>
          <a:xfrm>
            <a:off x="4480560" y="2231136"/>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€189</a:t>
            </a:r>
            <a:endParaRPr lang="en-US" sz="1000" dirty="0"/>
          </a:p>
        </p:txBody>
      </p:sp>
      <p:sp>
        <p:nvSpPr>
          <p:cNvPr id="17" name="Text 15"/>
          <p:cNvSpPr/>
          <p:nvPr/>
        </p:nvSpPr>
        <p:spPr>
          <a:xfrm>
            <a:off x="777240" y="2464308"/>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La destrucción por el soneto</a:t>
            </a:r>
            <a:endParaRPr lang="en-US" sz="1000" dirty="0"/>
          </a:p>
        </p:txBody>
      </p:sp>
      <p:sp>
        <p:nvSpPr>
          <p:cNvPr id="18" name="Text 16"/>
          <p:cNvSpPr/>
          <p:nvPr/>
        </p:nvSpPr>
        <p:spPr>
          <a:xfrm>
            <a:off x="3749040" y="2464308"/>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5</a:t>
            </a:r>
            <a:endParaRPr lang="en-US" sz="1000" dirty="0"/>
          </a:p>
        </p:txBody>
      </p:sp>
      <p:sp>
        <p:nvSpPr>
          <p:cNvPr id="19" name="Text 17"/>
          <p:cNvSpPr/>
          <p:nvPr/>
        </p:nvSpPr>
        <p:spPr>
          <a:xfrm>
            <a:off x="4480560" y="2464308"/>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€180</a:t>
            </a:r>
            <a:endParaRPr lang="en-US" sz="1000" dirty="0"/>
          </a:p>
        </p:txBody>
      </p:sp>
      <p:sp>
        <p:nvSpPr>
          <p:cNvPr id="20" name="Text 18"/>
          <p:cNvSpPr/>
          <p:nvPr/>
        </p:nvSpPr>
        <p:spPr>
          <a:xfrm>
            <a:off x="777240" y="2697480"/>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Selected Paintings</a:t>
            </a:r>
            <a:endParaRPr lang="en-US" sz="1000" dirty="0"/>
          </a:p>
        </p:txBody>
      </p:sp>
      <p:sp>
        <p:nvSpPr>
          <p:cNvPr id="21" name="Text 19"/>
          <p:cNvSpPr/>
          <p:nvPr/>
        </p:nvSpPr>
        <p:spPr>
          <a:xfrm>
            <a:off x="3749040" y="2697480"/>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4480560" y="2697480"/>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€156</a:t>
            </a:r>
            <a:endParaRPr lang="en-US" sz="1000" dirty="0"/>
          </a:p>
        </p:txBody>
      </p:sp>
      <p:sp>
        <p:nvSpPr>
          <p:cNvPr id="23" name="Text 21"/>
          <p:cNvSpPr/>
          <p:nvPr/>
        </p:nvSpPr>
        <p:spPr>
          <a:xfrm>
            <a:off x="777240" y="2930652"/>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Concierto mambí</a:t>
            </a:r>
            <a:endParaRPr lang="en-US" sz="1000" dirty="0"/>
          </a:p>
        </p:txBody>
      </p:sp>
      <p:sp>
        <p:nvSpPr>
          <p:cNvPr id="24" name="Text 22"/>
          <p:cNvSpPr/>
          <p:nvPr/>
        </p:nvSpPr>
        <p:spPr>
          <a:xfrm>
            <a:off x="3749040" y="2930652"/>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10</a:t>
            </a:r>
            <a:endParaRPr lang="en-US" sz="1000" dirty="0"/>
          </a:p>
        </p:txBody>
      </p:sp>
      <p:sp>
        <p:nvSpPr>
          <p:cNvPr id="25" name="Text 23"/>
          <p:cNvSpPr/>
          <p:nvPr/>
        </p:nvSpPr>
        <p:spPr>
          <a:xfrm>
            <a:off x="4480560" y="2930652"/>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€150</a:t>
            </a:r>
            <a:endParaRPr lang="en-US" sz="1000" dirty="0"/>
          </a:p>
        </p:txBody>
      </p:sp>
      <p:sp>
        <p:nvSpPr>
          <p:cNvPr id="26" name="Text 24"/>
          <p:cNvSpPr/>
          <p:nvPr/>
        </p:nvSpPr>
        <p:spPr>
          <a:xfrm>
            <a:off x="777240" y="3163824"/>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De Venezuela al Kurdistán</a:t>
            </a:r>
            <a:endParaRPr lang="en-US" sz="1000" dirty="0"/>
          </a:p>
        </p:txBody>
      </p:sp>
      <p:sp>
        <p:nvSpPr>
          <p:cNvPr id="27" name="Text 25"/>
          <p:cNvSpPr/>
          <p:nvPr/>
        </p:nvSpPr>
        <p:spPr>
          <a:xfrm>
            <a:off x="3749040" y="3163824"/>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5</a:t>
            </a:r>
            <a:endParaRPr lang="en-US" sz="1000" dirty="0"/>
          </a:p>
        </p:txBody>
      </p:sp>
      <p:sp>
        <p:nvSpPr>
          <p:cNvPr id="28" name="Text 26"/>
          <p:cNvSpPr/>
          <p:nvPr/>
        </p:nvSpPr>
        <p:spPr>
          <a:xfrm>
            <a:off x="4480560" y="3163824"/>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€118</a:t>
            </a:r>
            <a:endParaRPr lang="en-US" sz="1000" dirty="0"/>
          </a:p>
        </p:txBody>
      </p:sp>
      <p:sp>
        <p:nvSpPr>
          <p:cNvPr id="29" name="Text 27"/>
          <p:cNvSpPr/>
          <p:nvPr/>
        </p:nvSpPr>
        <p:spPr>
          <a:xfrm>
            <a:off x="777240" y="3396996"/>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De ética y política</a:t>
            </a:r>
            <a:endParaRPr lang="en-US" sz="1000" dirty="0"/>
          </a:p>
        </p:txBody>
      </p:sp>
      <p:sp>
        <p:nvSpPr>
          <p:cNvPr id="30" name="Text 28"/>
          <p:cNvSpPr/>
          <p:nvPr/>
        </p:nvSpPr>
        <p:spPr>
          <a:xfrm>
            <a:off x="3749040" y="3396996"/>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4480560" y="3396996"/>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€114</a:t>
            </a:r>
            <a:endParaRPr lang="en-US" sz="1000" dirty="0"/>
          </a:p>
        </p:txBody>
      </p:sp>
      <p:sp>
        <p:nvSpPr>
          <p:cNvPr id="32" name="Text 30"/>
          <p:cNvSpPr/>
          <p:nvPr/>
        </p:nvSpPr>
        <p:spPr>
          <a:xfrm>
            <a:off x="777240" y="3630168"/>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Libro de Jóveno</a:t>
            </a:r>
            <a:endParaRPr lang="en-US" sz="1000" dirty="0"/>
          </a:p>
        </p:txBody>
      </p:sp>
      <p:sp>
        <p:nvSpPr>
          <p:cNvPr id="33" name="Text 31"/>
          <p:cNvSpPr/>
          <p:nvPr/>
        </p:nvSpPr>
        <p:spPr>
          <a:xfrm>
            <a:off x="3749040" y="3630168"/>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7</a:t>
            </a:r>
            <a:endParaRPr lang="en-US" sz="1000" dirty="0"/>
          </a:p>
        </p:txBody>
      </p:sp>
      <p:sp>
        <p:nvSpPr>
          <p:cNvPr id="34" name="Text 32"/>
          <p:cNvSpPr/>
          <p:nvPr/>
        </p:nvSpPr>
        <p:spPr>
          <a:xfrm>
            <a:off x="4480560" y="3630168"/>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€105</a:t>
            </a:r>
            <a:endParaRPr lang="en-US" sz="1000" dirty="0"/>
          </a:p>
        </p:txBody>
      </p:sp>
      <p:sp>
        <p:nvSpPr>
          <p:cNvPr id="35" name="Text 33"/>
          <p:cNvSpPr/>
          <p:nvPr/>
        </p:nvSpPr>
        <p:spPr>
          <a:xfrm>
            <a:off x="777240" y="3863340"/>
            <a:ext cx="2926080" cy="201168"/>
          </a:xfrm>
          <a:prstGeom prst="rect">
            <a:avLst/>
          </a:prstGeom>
          <a:noFill/>
          <a:ln/>
        </p:spPr>
        <p:txBody>
          <a:bodyPr wrap="square" lIns="0" tIns="0" rIns="0" bIns="0" rtlCol="0" anchor="ctr"/>
          <a:lstStyle/>
          <a:p>
            <a:pPr indent="0" marL="0">
              <a:buNone/>
            </a:pPr>
            <a:r>
              <a:rPr lang="en-US" sz="1000" dirty="0">
                <a:solidFill>
                  <a:srgbClr val="3A3A3A"/>
                </a:solidFill>
                <a:latin typeface="Calibri" pitchFamily="34" charset="0"/>
                <a:ea typeface="Calibri" pitchFamily="34" charset="-122"/>
                <a:cs typeface="Calibri" pitchFamily="34" charset="-120"/>
              </a:rPr>
              <a:t>Navidades de miedo</a:t>
            </a:r>
            <a:endParaRPr lang="en-US" sz="1000" dirty="0"/>
          </a:p>
        </p:txBody>
      </p:sp>
      <p:sp>
        <p:nvSpPr>
          <p:cNvPr id="36" name="Text 34"/>
          <p:cNvSpPr/>
          <p:nvPr/>
        </p:nvSpPr>
        <p:spPr>
          <a:xfrm>
            <a:off x="3749040" y="3863340"/>
            <a:ext cx="685800" cy="201168"/>
          </a:xfrm>
          <a:prstGeom prst="rect">
            <a:avLst/>
          </a:prstGeom>
          <a:noFill/>
          <a:ln/>
        </p:spPr>
        <p:txBody>
          <a:bodyPr wrap="square" lIns="0" tIns="0" rIns="0" bIns="0" rtlCol="0" anchor="ctr"/>
          <a:lstStyle/>
          <a:p>
            <a:pPr algn="r" indent="0" marL="0">
              <a:buNone/>
            </a:pPr>
            <a:r>
              <a:rPr lang="en-US" sz="1000" dirty="0">
                <a:solidFill>
                  <a:srgbClr val="3A3A3A"/>
                </a:solidFill>
                <a:latin typeface="Calibri" pitchFamily="34" charset="0"/>
                <a:ea typeface="Calibri" pitchFamily="34" charset="-122"/>
                <a:cs typeface="Calibri" pitchFamily="34" charset="-120"/>
              </a:rPr>
              <a:t>4</a:t>
            </a:r>
            <a:endParaRPr lang="en-US" sz="1000" dirty="0"/>
          </a:p>
        </p:txBody>
      </p:sp>
      <p:sp>
        <p:nvSpPr>
          <p:cNvPr id="37" name="Text 35"/>
          <p:cNvSpPr/>
          <p:nvPr/>
        </p:nvSpPr>
        <p:spPr>
          <a:xfrm>
            <a:off x="4480560" y="3863340"/>
            <a:ext cx="731520" cy="201168"/>
          </a:xfrm>
          <a:prstGeom prst="rect">
            <a:avLst/>
          </a:prstGeom>
          <a:noFill/>
          <a:ln/>
        </p:spPr>
        <p:txBody>
          <a:bodyPr wrap="square" lIns="0" tIns="0" rIns="0" bIns="0" rtlCol="0" anchor="ctr"/>
          <a:lstStyle/>
          <a:p>
            <a:pPr algn="r" indent="0" marL="0">
              <a:buNone/>
            </a:pPr>
            <a:r>
              <a:rPr lang="en-US" sz="1000" b="1" dirty="0">
                <a:solidFill>
                  <a:srgbClr val="004226"/>
                </a:solidFill>
                <a:latin typeface="Calibri" pitchFamily="34" charset="0"/>
                <a:ea typeface="Calibri" pitchFamily="34" charset="-122"/>
                <a:cs typeface="Calibri" pitchFamily="34" charset="-120"/>
              </a:rPr>
              <a:t>€96</a:t>
            </a:r>
            <a:endParaRPr lang="en-US" sz="1000" dirty="0"/>
          </a:p>
        </p:txBody>
      </p:sp>
      <p:sp>
        <p:nvSpPr>
          <p:cNvPr id="38" name="Shape 36"/>
          <p:cNvSpPr/>
          <p:nvPr/>
        </p:nvSpPr>
        <p:spPr>
          <a:xfrm>
            <a:off x="5669280" y="1371600"/>
            <a:ext cx="2926080" cy="2788920"/>
          </a:xfrm>
          <a:prstGeom prst="roundRect">
            <a:avLst>
              <a:gd name="adj" fmla="val 1967"/>
            </a:avLst>
          </a:prstGeom>
          <a:solidFill>
            <a:srgbClr val="004226"/>
          </a:solidFill>
          <a:ln w="12700">
            <a:solidFill>
              <a:srgbClr val="004226"/>
            </a:solidFill>
            <a:prstDash val="solid"/>
          </a:ln>
        </p:spPr>
      </p:sp>
      <p:sp>
        <p:nvSpPr>
          <p:cNvPr id="39" name="Text 37"/>
          <p:cNvSpPr/>
          <p:nvPr/>
        </p:nvSpPr>
        <p:spPr>
          <a:xfrm>
            <a:off x="5943600" y="1572768"/>
            <a:ext cx="2468880" cy="2743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 patrón</a:t>
            </a:r>
            <a:endParaRPr lang="en-US" sz="1600" dirty="0"/>
          </a:p>
        </p:txBody>
      </p:sp>
      <p:sp>
        <p:nvSpPr>
          <p:cNvPr id="40" name="Text 38"/>
          <p:cNvSpPr/>
          <p:nvPr/>
        </p:nvSpPr>
        <p:spPr>
          <a:xfrm>
            <a:off x="5943600" y="1901952"/>
            <a:ext cx="2423160" cy="457200"/>
          </a:xfrm>
          <a:prstGeom prst="rect">
            <a:avLst/>
          </a:prstGeom>
          <a:noFill/>
          <a:ln/>
        </p:spPr>
        <p:txBody>
          <a:bodyPr wrap="square" lIns="0" tIns="0" rIns="0" bIns="0" rtlCol="0" anchor="ctr"/>
          <a:lstStyle/>
          <a:p>
            <a:pPr indent="0" marL="0">
              <a:lnSpc>
                <a:spcPts val="1400"/>
              </a:lnSpc>
              <a:buNone/>
            </a:pPr>
            <a:r>
              <a:rPr lang="en-US" sz="1050" dirty="0">
                <a:solidFill>
                  <a:srgbClr val="C8DCD0"/>
                </a:solidFill>
                <a:latin typeface="Calibri" pitchFamily="34" charset="0"/>
                <a:ea typeface="Calibri" pitchFamily="34" charset="-122"/>
                <a:cs typeface="Calibri" pitchFamily="34" charset="-120"/>
              </a:rPr>
              <a:t>El stock muerto no está repartido al azar. Se concentra en dos familias:</a:t>
            </a:r>
            <a:endParaRPr lang="en-US" sz="1050" dirty="0"/>
          </a:p>
        </p:txBody>
      </p:sp>
      <p:sp>
        <p:nvSpPr>
          <p:cNvPr id="41" name="Text 39"/>
          <p:cNvSpPr/>
          <p:nvPr/>
        </p:nvSpPr>
        <p:spPr>
          <a:xfrm>
            <a:off x="5943600" y="2395728"/>
            <a:ext cx="2423160" cy="320040"/>
          </a:xfrm>
          <a:prstGeom prst="rect">
            <a:avLst/>
          </a:prstGeom>
          <a:noFill/>
          <a:ln/>
        </p:spPr>
        <p:txBody>
          <a:bodyPr wrap="square" lIns="0" tIns="0" rIns="0" bIns="0" rtlCol="0" anchor="ctr"/>
          <a:lstStyle/>
          <a:p>
            <a:pPr indent="0" marL="0">
              <a:lnSpc>
                <a:spcPts val="1400"/>
              </a:lnSpc>
              <a:buNone/>
            </a:pPr>
            <a:r>
              <a:rPr lang="en-US" sz="1100" b="1" dirty="0">
                <a:solidFill>
                  <a:srgbClr val="FFFFFF"/>
                </a:solidFill>
                <a:latin typeface="Calibri" pitchFamily="34" charset="0"/>
                <a:ea typeface="Calibri" pitchFamily="34" charset="-122"/>
                <a:cs typeface="Calibri" pitchFamily="34" charset="-120"/>
              </a:rPr>
              <a:t>Ensayo político e histórico latinoamericano</a:t>
            </a:r>
            <a:endParaRPr lang="en-US" sz="1100" dirty="0"/>
          </a:p>
        </p:txBody>
      </p:sp>
      <p:sp>
        <p:nvSpPr>
          <p:cNvPr id="42" name="Text 40"/>
          <p:cNvSpPr/>
          <p:nvPr/>
        </p:nvSpPr>
        <p:spPr>
          <a:xfrm>
            <a:off x="5943600" y="2788920"/>
            <a:ext cx="242316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Arte y diseño de precio alto</a:t>
            </a:r>
            <a:endParaRPr lang="en-US" sz="1100" dirty="0"/>
          </a:p>
        </p:txBody>
      </p:sp>
      <p:sp>
        <p:nvSpPr>
          <p:cNvPr id="43" name="Text 41"/>
          <p:cNvSpPr/>
          <p:nvPr/>
        </p:nvSpPr>
        <p:spPr>
          <a:xfrm>
            <a:off x="5943600" y="3108960"/>
            <a:ext cx="2423160" cy="822960"/>
          </a:xfrm>
          <a:prstGeom prst="rect">
            <a:avLst/>
          </a:prstGeom>
          <a:noFill/>
          <a:ln/>
        </p:spPr>
        <p:txBody>
          <a:bodyPr wrap="square" lIns="0" tIns="0" rIns="0" bIns="0" rtlCol="0" anchor="ctr"/>
          <a:lstStyle/>
          <a:p>
            <a:pPr indent="0" marL="0">
              <a:lnSpc>
                <a:spcPts val="1400"/>
              </a:lnSpc>
              <a:buNone/>
            </a:pPr>
            <a:r>
              <a:rPr lang="en-US" sz="1050" dirty="0">
                <a:solidFill>
                  <a:srgbClr val="C8DCD0"/>
                </a:solidFill>
                <a:latin typeface="Calibri" pitchFamily="34" charset="0"/>
                <a:ea typeface="Calibri" pitchFamily="34" charset="-122"/>
                <a:cs typeface="Calibri" pitchFamily="34" charset="-120"/>
              </a:rPr>
              <a:t>Son compras por convicción, no por demanda. No hay que dejar de traerlas: hay que traerlas de a un ejemplar y por pedido.</a:t>
            </a:r>
            <a:endParaRPr lang="en-US" sz="1050" dirty="0"/>
          </a:p>
        </p:txBody>
      </p:sp>
      <p:sp>
        <p:nvSpPr>
          <p:cNvPr id="44" name="Shape 42"/>
          <p:cNvSpPr/>
          <p:nvPr/>
        </p:nvSpPr>
        <p:spPr>
          <a:xfrm>
            <a:off x="548640" y="4279392"/>
            <a:ext cx="8046720" cy="548640"/>
          </a:xfrm>
          <a:prstGeom prst="roundRect">
            <a:avLst>
              <a:gd name="adj" fmla="val 10000"/>
            </a:avLst>
          </a:prstGeom>
          <a:solidFill>
            <a:srgbClr val="F8E9E8"/>
          </a:solidFill>
          <a:ln w="12700">
            <a:solidFill>
              <a:srgbClr val="F8E9E8"/>
            </a:solidFill>
            <a:prstDash val="solid"/>
          </a:ln>
        </p:spPr>
      </p:sp>
      <p:sp>
        <p:nvSpPr>
          <p:cNvPr id="45" name="Text 43"/>
          <p:cNvSpPr/>
          <p:nvPr/>
        </p:nvSpPr>
        <p:spPr>
          <a:xfrm>
            <a:off x="822960" y="4279392"/>
            <a:ext cx="7589520" cy="548640"/>
          </a:xfrm>
          <a:prstGeom prst="rect">
            <a:avLst/>
          </a:prstGeom>
          <a:noFill/>
          <a:ln/>
        </p:spPr>
        <p:txBody>
          <a:bodyPr wrap="square" lIns="0" tIns="0" rIns="0" bIns="0" rtlCol="0" anchor="ctr"/>
          <a:lstStyle/>
          <a:p>
            <a:pPr indent="0" marL="0">
              <a:buNone/>
            </a:pPr>
            <a:r>
              <a:rPr lang="en-US" sz="1200" b="1" dirty="0">
                <a:solidFill>
                  <a:srgbClr val="004226"/>
                </a:solidFill>
                <a:latin typeface="Calibri" pitchFamily="34" charset="0"/>
                <a:ea typeface="Calibri" pitchFamily="34" charset="-122"/>
                <a:cs typeface="Calibri" pitchFamily="34" charset="-120"/>
              </a:rPr>
              <a:t>El peor caso del inventario:  </a:t>
            </a:r>
            <a:pPr indent="0" marL="0">
              <a:buNone/>
            </a:pPr>
            <a:r>
              <a:rPr lang="en-US" sz="1200" dirty="0">
                <a:solidFill>
                  <a:srgbClr val="4A4A4A"/>
                </a:solidFill>
                <a:latin typeface="Calibri" pitchFamily="34" charset="0"/>
                <a:ea typeface="Calibri" pitchFamily="34" charset="-122"/>
                <a:cs typeface="Calibri" pitchFamily="34" charset="-120"/>
              </a:rPr>
              <a:t>El diseño de sentido — 19 ejemplares, €475 en estantería, una sola venta en 13 meses.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11480"/>
            <a:ext cx="804672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Lo que falta comprar</a:t>
            </a:r>
            <a:endParaRPr lang="en-US" sz="3400" dirty="0"/>
          </a:p>
        </p:txBody>
      </p:sp>
      <p:sp>
        <p:nvSpPr>
          <p:cNvPr id="3" name="Text 1"/>
          <p:cNvSpPr/>
          <p:nvPr/>
        </p:nvSpPr>
        <p:spPr>
          <a:xfrm>
            <a:off x="566928" y="97840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Treinta y nueve títulos venden bien y están agotados o casi. Cada día sin ellos es venta perdida.</a:t>
            </a:r>
            <a:endParaRPr lang="en-US" sz="1300" dirty="0"/>
          </a:p>
        </p:txBody>
      </p:sp>
      <p:sp>
        <p:nvSpPr>
          <p:cNvPr id="4" name="Text 2"/>
          <p:cNvSpPr/>
          <p:nvPr/>
        </p:nvSpPr>
        <p:spPr>
          <a:xfrm>
            <a:off x="777240" y="1426464"/>
            <a:ext cx="3566160" cy="182880"/>
          </a:xfrm>
          <a:prstGeom prst="rect">
            <a:avLst/>
          </a:prstGeom>
          <a:noFill/>
          <a:ln/>
        </p:spPr>
        <p:txBody>
          <a:bodyPr wrap="square" lIns="0" tIns="0" rIns="0" bIns="0" rtlCol="0" anchor="ctr"/>
          <a:lstStyle/>
          <a:p>
            <a:pPr indent="0" marL="0">
              <a:buNone/>
            </a:pPr>
            <a:r>
              <a:rPr lang="en-US" sz="850" b="1" spc="100" kern="0" dirty="0">
                <a:solidFill>
                  <a:srgbClr val="6B6B6B"/>
                </a:solidFill>
                <a:latin typeface="Calibri" pitchFamily="34" charset="0"/>
                <a:ea typeface="Calibri" pitchFamily="34" charset="-122"/>
                <a:cs typeface="Calibri" pitchFamily="34" charset="-120"/>
              </a:rPr>
              <a:t>TÍTULO</a:t>
            </a:r>
            <a:endParaRPr lang="en-US" sz="850" dirty="0"/>
          </a:p>
        </p:txBody>
      </p:sp>
      <p:sp>
        <p:nvSpPr>
          <p:cNvPr id="5" name="Text 3"/>
          <p:cNvSpPr/>
          <p:nvPr/>
        </p:nvSpPr>
        <p:spPr>
          <a:xfrm>
            <a:off x="4434840" y="1426464"/>
            <a:ext cx="1005840" cy="182880"/>
          </a:xfrm>
          <a:prstGeom prst="rect">
            <a:avLst/>
          </a:prstGeom>
          <a:noFill/>
          <a:ln/>
        </p:spPr>
        <p:txBody>
          <a:bodyPr wrap="square" lIns="0" tIns="0" rIns="0" bIns="0" rtlCol="0" anchor="ctr"/>
          <a:lstStyle/>
          <a:p>
            <a:pPr algn="r" indent="0" marL="0">
              <a:buNone/>
            </a:pPr>
            <a:r>
              <a:rPr lang="en-US" sz="850" b="1" spc="100" kern="0" dirty="0">
                <a:solidFill>
                  <a:srgbClr val="6B6B6B"/>
                </a:solidFill>
                <a:latin typeface="Calibri" pitchFamily="34" charset="0"/>
                <a:ea typeface="Calibri" pitchFamily="34" charset="-122"/>
                <a:cs typeface="Calibri" pitchFamily="34" charset="-120"/>
              </a:rPr>
              <a:t>VENDIDOS</a:t>
            </a:r>
            <a:endParaRPr lang="en-US" sz="850" dirty="0"/>
          </a:p>
        </p:txBody>
      </p:sp>
      <p:sp>
        <p:nvSpPr>
          <p:cNvPr id="6" name="Text 4"/>
          <p:cNvSpPr/>
          <p:nvPr/>
        </p:nvSpPr>
        <p:spPr>
          <a:xfrm>
            <a:off x="5532120" y="1426464"/>
            <a:ext cx="1005840" cy="182880"/>
          </a:xfrm>
          <a:prstGeom prst="rect">
            <a:avLst/>
          </a:prstGeom>
          <a:noFill/>
          <a:ln/>
        </p:spPr>
        <p:txBody>
          <a:bodyPr wrap="square" lIns="0" tIns="0" rIns="0" bIns="0" rtlCol="0" anchor="ctr"/>
          <a:lstStyle/>
          <a:p>
            <a:pPr algn="r" indent="0" marL="0">
              <a:buNone/>
            </a:pPr>
            <a:r>
              <a:rPr lang="en-US" sz="850" b="1" spc="100" kern="0" dirty="0">
                <a:solidFill>
                  <a:srgbClr val="6B6B6B"/>
                </a:solidFill>
                <a:latin typeface="Calibri" pitchFamily="34" charset="0"/>
                <a:ea typeface="Calibri" pitchFamily="34" charset="-122"/>
                <a:cs typeface="Calibri" pitchFamily="34" charset="-120"/>
              </a:rPr>
              <a:t>EN STOCK</a:t>
            </a:r>
            <a:endParaRPr lang="en-US" sz="850" dirty="0"/>
          </a:p>
        </p:txBody>
      </p:sp>
      <p:sp>
        <p:nvSpPr>
          <p:cNvPr id="7" name="Text 5"/>
          <p:cNvSpPr/>
          <p:nvPr/>
        </p:nvSpPr>
        <p:spPr>
          <a:xfrm>
            <a:off x="6629400" y="1426464"/>
            <a:ext cx="1737360" cy="182880"/>
          </a:xfrm>
          <a:prstGeom prst="rect">
            <a:avLst/>
          </a:prstGeom>
          <a:noFill/>
          <a:ln/>
        </p:spPr>
        <p:txBody>
          <a:bodyPr wrap="square" lIns="0" tIns="0" rIns="0" bIns="0" rtlCol="0" anchor="ctr"/>
          <a:lstStyle/>
          <a:p>
            <a:pPr algn="r" indent="0" marL="0">
              <a:buNone/>
            </a:pPr>
            <a:r>
              <a:rPr lang="en-US" sz="850" b="1" spc="100" kern="0" dirty="0">
                <a:solidFill>
                  <a:srgbClr val="6B6B6B"/>
                </a:solidFill>
                <a:latin typeface="Calibri" pitchFamily="34" charset="0"/>
                <a:ea typeface="Calibri" pitchFamily="34" charset="-122"/>
                <a:cs typeface="Calibri" pitchFamily="34" charset="-120"/>
              </a:rPr>
              <a:t>FACTURADO</a:t>
            </a:r>
            <a:endParaRPr lang="en-US" sz="850" dirty="0"/>
          </a:p>
        </p:txBody>
      </p:sp>
      <p:sp>
        <p:nvSpPr>
          <p:cNvPr id="8" name="Shape 6"/>
          <p:cNvSpPr/>
          <p:nvPr/>
        </p:nvSpPr>
        <p:spPr>
          <a:xfrm>
            <a:off x="548640" y="1645920"/>
            <a:ext cx="8046720" cy="310896"/>
          </a:xfrm>
          <a:prstGeom prst="roundRect">
            <a:avLst>
              <a:gd name="adj" fmla="val 17647"/>
            </a:avLst>
          </a:prstGeom>
          <a:solidFill>
            <a:srgbClr val="F4F2EE"/>
          </a:solidFill>
          <a:ln w="12700">
            <a:solidFill>
              <a:srgbClr val="F4F2EE"/>
            </a:solidFill>
            <a:prstDash val="solid"/>
          </a:ln>
        </p:spPr>
      </p:sp>
      <p:sp>
        <p:nvSpPr>
          <p:cNvPr id="9" name="Text 7"/>
          <p:cNvSpPr/>
          <p:nvPr/>
        </p:nvSpPr>
        <p:spPr>
          <a:xfrm>
            <a:off x="777240" y="1691640"/>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Píldoras antieméticas</a:t>
            </a:r>
            <a:endParaRPr lang="en-US" sz="1100" dirty="0"/>
          </a:p>
        </p:txBody>
      </p:sp>
      <p:sp>
        <p:nvSpPr>
          <p:cNvPr id="10" name="Text 8"/>
          <p:cNvSpPr/>
          <p:nvPr/>
        </p:nvSpPr>
        <p:spPr>
          <a:xfrm>
            <a:off x="4434840" y="1691640"/>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24</a:t>
            </a:r>
            <a:endParaRPr lang="en-US" sz="1100" dirty="0"/>
          </a:p>
        </p:txBody>
      </p:sp>
      <p:sp>
        <p:nvSpPr>
          <p:cNvPr id="11" name="Text 9"/>
          <p:cNvSpPr/>
          <p:nvPr/>
        </p:nvSpPr>
        <p:spPr>
          <a:xfrm>
            <a:off x="5532120" y="1691640"/>
            <a:ext cx="1005840" cy="219456"/>
          </a:xfrm>
          <a:prstGeom prst="rect">
            <a:avLst/>
          </a:prstGeom>
          <a:noFill/>
          <a:ln/>
        </p:spPr>
        <p:txBody>
          <a:bodyPr wrap="square" lIns="0" tIns="0" rIns="0" bIns="0" rtlCol="0" anchor="ctr"/>
          <a:lstStyle/>
          <a:p>
            <a:pPr algn="r" indent="0" marL="0">
              <a:buNone/>
            </a:pPr>
            <a:r>
              <a:rPr lang="en-US" sz="1100" b="1" dirty="0">
                <a:solidFill>
                  <a:srgbClr val="B03A2E"/>
                </a:solidFill>
                <a:latin typeface="Calibri" pitchFamily="34" charset="0"/>
                <a:ea typeface="Calibri" pitchFamily="34" charset="-122"/>
                <a:cs typeface="Calibri" pitchFamily="34" charset="-120"/>
              </a:rPr>
              <a:t>0</a:t>
            </a:r>
            <a:endParaRPr lang="en-US" sz="1100" dirty="0"/>
          </a:p>
        </p:txBody>
      </p:sp>
      <p:sp>
        <p:nvSpPr>
          <p:cNvPr id="12" name="Text 10"/>
          <p:cNvSpPr/>
          <p:nvPr/>
        </p:nvSpPr>
        <p:spPr>
          <a:xfrm>
            <a:off x="6629400" y="1691640"/>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€480</a:t>
            </a:r>
            <a:endParaRPr lang="en-US" sz="1100" dirty="0"/>
          </a:p>
        </p:txBody>
      </p:sp>
      <p:sp>
        <p:nvSpPr>
          <p:cNvPr id="13" name="Shape 11"/>
          <p:cNvSpPr/>
          <p:nvPr/>
        </p:nvSpPr>
        <p:spPr>
          <a:xfrm>
            <a:off x="548640" y="1993392"/>
            <a:ext cx="8046720" cy="310896"/>
          </a:xfrm>
          <a:prstGeom prst="roundRect">
            <a:avLst>
              <a:gd name="adj" fmla="val 17647"/>
            </a:avLst>
          </a:prstGeom>
          <a:solidFill>
            <a:srgbClr val="FFFFFF"/>
          </a:solidFill>
          <a:ln w="12700">
            <a:solidFill>
              <a:srgbClr val="FFFFFF"/>
            </a:solidFill>
            <a:prstDash val="solid"/>
          </a:ln>
        </p:spPr>
      </p:sp>
      <p:sp>
        <p:nvSpPr>
          <p:cNvPr id="14" name="Text 12"/>
          <p:cNvSpPr/>
          <p:nvPr/>
        </p:nvSpPr>
        <p:spPr>
          <a:xfrm>
            <a:off x="777240" y="2039112"/>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Las gratitudes</a:t>
            </a:r>
            <a:endParaRPr lang="en-US" sz="1100" dirty="0"/>
          </a:p>
        </p:txBody>
      </p:sp>
      <p:sp>
        <p:nvSpPr>
          <p:cNvPr id="15" name="Text 13"/>
          <p:cNvSpPr/>
          <p:nvPr/>
        </p:nvSpPr>
        <p:spPr>
          <a:xfrm>
            <a:off x="4434840" y="2039112"/>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22</a:t>
            </a:r>
            <a:endParaRPr lang="en-US" sz="1100" dirty="0"/>
          </a:p>
        </p:txBody>
      </p:sp>
      <p:sp>
        <p:nvSpPr>
          <p:cNvPr id="16" name="Text 14"/>
          <p:cNvSpPr/>
          <p:nvPr/>
        </p:nvSpPr>
        <p:spPr>
          <a:xfrm>
            <a:off x="5532120" y="2039112"/>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6629400" y="2039112"/>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€438</a:t>
            </a:r>
            <a:endParaRPr lang="en-US" sz="1100" dirty="0"/>
          </a:p>
        </p:txBody>
      </p:sp>
      <p:sp>
        <p:nvSpPr>
          <p:cNvPr id="18" name="Shape 16"/>
          <p:cNvSpPr/>
          <p:nvPr/>
        </p:nvSpPr>
        <p:spPr>
          <a:xfrm>
            <a:off x="548640" y="2340864"/>
            <a:ext cx="8046720" cy="310896"/>
          </a:xfrm>
          <a:prstGeom prst="roundRect">
            <a:avLst>
              <a:gd name="adj" fmla="val 17647"/>
            </a:avLst>
          </a:prstGeom>
          <a:solidFill>
            <a:srgbClr val="F4F2EE"/>
          </a:solidFill>
          <a:ln w="12700">
            <a:solidFill>
              <a:srgbClr val="F4F2EE"/>
            </a:solidFill>
            <a:prstDash val="solid"/>
          </a:ln>
        </p:spPr>
      </p:sp>
      <p:sp>
        <p:nvSpPr>
          <p:cNvPr id="19" name="Text 17"/>
          <p:cNvSpPr/>
          <p:nvPr/>
        </p:nvSpPr>
        <p:spPr>
          <a:xfrm>
            <a:off x="777240" y="2386584"/>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Nonadanadie</a:t>
            </a:r>
            <a:endParaRPr lang="en-US" sz="1100" dirty="0"/>
          </a:p>
        </p:txBody>
      </p:sp>
      <p:sp>
        <p:nvSpPr>
          <p:cNvPr id="20" name="Text 18"/>
          <p:cNvSpPr/>
          <p:nvPr/>
        </p:nvSpPr>
        <p:spPr>
          <a:xfrm>
            <a:off x="4434840" y="2386584"/>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20</a:t>
            </a:r>
            <a:endParaRPr lang="en-US" sz="1100" dirty="0"/>
          </a:p>
        </p:txBody>
      </p:sp>
      <p:sp>
        <p:nvSpPr>
          <p:cNvPr id="21" name="Text 19"/>
          <p:cNvSpPr/>
          <p:nvPr/>
        </p:nvSpPr>
        <p:spPr>
          <a:xfrm>
            <a:off x="5532120" y="2386584"/>
            <a:ext cx="1005840" cy="219456"/>
          </a:xfrm>
          <a:prstGeom prst="rect">
            <a:avLst/>
          </a:prstGeom>
          <a:noFill/>
          <a:ln/>
        </p:spPr>
        <p:txBody>
          <a:bodyPr wrap="square" lIns="0" tIns="0" rIns="0" bIns="0" rtlCol="0" anchor="ctr"/>
          <a:lstStyle/>
          <a:p>
            <a:pPr algn="r" indent="0" marL="0">
              <a:buNone/>
            </a:pPr>
            <a:r>
              <a:rPr lang="en-US" sz="1100" b="1" dirty="0">
                <a:solidFill>
                  <a:srgbClr val="B03A2E"/>
                </a:solidFill>
                <a:latin typeface="Calibri" pitchFamily="34" charset="0"/>
                <a:ea typeface="Calibri" pitchFamily="34" charset="-122"/>
                <a:cs typeface="Calibri" pitchFamily="34" charset="-120"/>
              </a:rPr>
              <a:t>0</a:t>
            </a:r>
            <a:endParaRPr lang="en-US" sz="1100" dirty="0"/>
          </a:p>
        </p:txBody>
      </p:sp>
      <p:sp>
        <p:nvSpPr>
          <p:cNvPr id="22" name="Text 20"/>
          <p:cNvSpPr/>
          <p:nvPr/>
        </p:nvSpPr>
        <p:spPr>
          <a:xfrm>
            <a:off x="6629400" y="2386584"/>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€400</a:t>
            </a:r>
            <a:endParaRPr lang="en-US" sz="1100" dirty="0"/>
          </a:p>
        </p:txBody>
      </p:sp>
      <p:sp>
        <p:nvSpPr>
          <p:cNvPr id="23" name="Shape 21"/>
          <p:cNvSpPr/>
          <p:nvPr/>
        </p:nvSpPr>
        <p:spPr>
          <a:xfrm>
            <a:off x="548640" y="2688336"/>
            <a:ext cx="8046720" cy="310896"/>
          </a:xfrm>
          <a:prstGeom prst="roundRect">
            <a:avLst>
              <a:gd name="adj" fmla="val 17647"/>
            </a:avLst>
          </a:prstGeom>
          <a:solidFill>
            <a:srgbClr val="FFFFFF"/>
          </a:solidFill>
          <a:ln w="12700">
            <a:solidFill>
              <a:srgbClr val="FFFFFF"/>
            </a:solidFill>
            <a:prstDash val="solid"/>
          </a:ln>
        </p:spPr>
      </p:sp>
      <p:sp>
        <p:nvSpPr>
          <p:cNvPr id="24" name="Text 22"/>
          <p:cNvSpPr/>
          <p:nvPr/>
        </p:nvSpPr>
        <p:spPr>
          <a:xfrm>
            <a:off x="777240" y="2734056"/>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Perro cubano</a:t>
            </a:r>
            <a:endParaRPr lang="en-US" sz="1100" dirty="0"/>
          </a:p>
        </p:txBody>
      </p:sp>
      <p:sp>
        <p:nvSpPr>
          <p:cNvPr id="25" name="Text 23"/>
          <p:cNvSpPr/>
          <p:nvPr/>
        </p:nvSpPr>
        <p:spPr>
          <a:xfrm>
            <a:off x="4434840" y="2734056"/>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19</a:t>
            </a:r>
            <a:endParaRPr lang="en-US" sz="1100" dirty="0"/>
          </a:p>
        </p:txBody>
      </p:sp>
      <p:sp>
        <p:nvSpPr>
          <p:cNvPr id="26" name="Text 24"/>
          <p:cNvSpPr/>
          <p:nvPr/>
        </p:nvSpPr>
        <p:spPr>
          <a:xfrm>
            <a:off x="5532120" y="2734056"/>
            <a:ext cx="1005840" cy="219456"/>
          </a:xfrm>
          <a:prstGeom prst="rect">
            <a:avLst/>
          </a:prstGeom>
          <a:noFill/>
          <a:ln/>
        </p:spPr>
        <p:txBody>
          <a:bodyPr wrap="square" lIns="0" tIns="0" rIns="0" bIns="0" rtlCol="0" anchor="ctr"/>
          <a:lstStyle/>
          <a:p>
            <a:pPr algn="r" indent="0" marL="0">
              <a:buNone/>
            </a:pPr>
            <a:r>
              <a:rPr lang="en-US" sz="1100" b="1" dirty="0">
                <a:solidFill>
                  <a:srgbClr val="B03A2E"/>
                </a:solidFill>
                <a:latin typeface="Calibri" pitchFamily="34" charset="0"/>
                <a:ea typeface="Calibri" pitchFamily="34" charset="-122"/>
                <a:cs typeface="Calibri" pitchFamily="34" charset="-120"/>
              </a:rPr>
              <a:t>0</a:t>
            </a:r>
            <a:endParaRPr lang="en-US" sz="1100" dirty="0"/>
          </a:p>
        </p:txBody>
      </p:sp>
      <p:sp>
        <p:nvSpPr>
          <p:cNvPr id="27" name="Text 25"/>
          <p:cNvSpPr/>
          <p:nvPr/>
        </p:nvSpPr>
        <p:spPr>
          <a:xfrm>
            <a:off x="6629400" y="2734056"/>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€244</a:t>
            </a:r>
            <a:endParaRPr lang="en-US" sz="1100" dirty="0"/>
          </a:p>
        </p:txBody>
      </p:sp>
      <p:sp>
        <p:nvSpPr>
          <p:cNvPr id="28" name="Shape 26"/>
          <p:cNvSpPr/>
          <p:nvPr/>
        </p:nvSpPr>
        <p:spPr>
          <a:xfrm>
            <a:off x="548640" y="3035808"/>
            <a:ext cx="8046720" cy="310896"/>
          </a:xfrm>
          <a:prstGeom prst="roundRect">
            <a:avLst>
              <a:gd name="adj" fmla="val 17647"/>
            </a:avLst>
          </a:prstGeom>
          <a:solidFill>
            <a:srgbClr val="F4F2EE"/>
          </a:solidFill>
          <a:ln w="12700">
            <a:solidFill>
              <a:srgbClr val="F4F2EE"/>
            </a:solidFill>
            <a:prstDash val="solid"/>
          </a:ln>
        </p:spPr>
      </p:sp>
      <p:sp>
        <p:nvSpPr>
          <p:cNvPr id="29" name="Text 27"/>
          <p:cNvSpPr/>
          <p:nvPr/>
        </p:nvSpPr>
        <p:spPr>
          <a:xfrm>
            <a:off x="777240" y="3081528"/>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Hamnet (17ª ed.)</a:t>
            </a:r>
            <a:endParaRPr lang="en-US" sz="1100" dirty="0"/>
          </a:p>
        </p:txBody>
      </p:sp>
      <p:sp>
        <p:nvSpPr>
          <p:cNvPr id="30" name="Text 28"/>
          <p:cNvSpPr/>
          <p:nvPr/>
        </p:nvSpPr>
        <p:spPr>
          <a:xfrm>
            <a:off x="4434840" y="3081528"/>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10</a:t>
            </a:r>
            <a:endParaRPr lang="en-US" sz="1100" dirty="0"/>
          </a:p>
        </p:txBody>
      </p:sp>
      <p:sp>
        <p:nvSpPr>
          <p:cNvPr id="31" name="Text 29"/>
          <p:cNvSpPr/>
          <p:nvPr/>
        </p:nvSpPr>
        <p:spPr>
          <a:xfrm>
            <a:off x="5532120" y="3081528"/>
            <a:ext cx="1005840" cy="219456"/>
          </a:xfrm>
          <a:prstGeom prst="rect">
            <a:avLst/>
          </a:prstGeom>
          <a:noFill/>
          <a:ln/>
        </p:spPr>
        <p:txBody>
          <a:bodyPr wrap="square" lIns="0" tIns="0" rIns="0" bIns="0" rtlCol="0" anchor="ctr"/>
          <a:lstStyle/>
          <a:p>
            <a:pPr algn="r" indent="0" marL="0">
              <a:buNone/>
            </a:pPr>
            <a:r>
              <a:rPr lang="en-US" sz="1100" b="1" dirty="0">
                <a:solidFill>
                  <a:srgbClr val="B03A2E"/>
                </a:solidFill>
                <a:latin typeface="Calibri" pitchFamily="34" charset="0"/>
                <a:ea typeface="Calibri" pitchFamily="34" charset="-122"/>
                <a:cs typeface="Calibri" pitchFamily="34" charset="-120"/>
              </a:rPr>
              <a:t>0</a:t>
            </a:r>
            <a:endParaRPr lang="en-US" sz="1100" dirty="0"/>
          </a:p>
        </p:txBody>
      </p:sp>
      <p:sp>
        <p:nvSpPr>
          <p:cNvPr id="32" name="Text 30"/>
          <p:cNvSpPr/>
          <p:nvPr/>
        </p:nvSpPr>
        <p:spPr>
          <a:xfrm>
            <a:off x="6629400" y="3081528"/>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€240</a:t>
            </a:r>
            <a:endParaRPr lang="en-US" sz="1100" dirty="0"/>
          </a:p>
        </p:txBody>
      </p:sp>
      <p:sp>
        <p:nvSpPr>
          <p:cNvPr id="33" name="Shape 31"/>
          <p:cNvSpPr/>
          <p:nvPr/>
        </p:nvSpPr>
        <p:spPr>
          <a:xfrm>
            <a:off x="548640" y="3383280"/>
            <a:ext cx="8046720" cy="310896"/>
          </a:xfrm>
          <a:prstGeom prst="roundRect">
            <a:avLst>
              <a:gd name="adj" fmla="val 17647"/>
            </a:avLst>
          </a:prstGeom>
          <a:solidFill>
            <a:srgbClr val="FFFFFF"/>
          </a:solidFill>
          <a:ln w="12700">
            <a:solidFill>
              <a:srgbClr val="FFFFFF"/>
            </a:solidFill>
            <a:prstDash val="solid"/>
          </a:ln>
        </p:spPr>
      </p:sp>
      <p:sp>
        <p:nvSpPr>
          <p:cNvPr id="34" name="Text 32"/>
          <p:cNvSpPr/>
          <p:nvPr/>
        </p:nvSpPr>
        <p:spPr>
          <a:xfrm>
            <a:off x="777240" y="3429000"/>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Loco de Dios en el fin del mundo</a:t>
            </a:r>
            <a:endParaRPr lang="en-US" sz="1100" dirty="0"/>
          </a:p>
        </p:txBody>
      </p:sp>
      <p:sp>
        <p:nvSpPr>
          <p:cNvPr id="35" name="Text 33"/>
          <p:cNvSpPr/>
          <p:nvPr/>
        </p:nvSpPr>
        <p:spPr>
          <a:xfrm>
            <a:off x="4434840" y="3429000"/>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10</a:t>
            </a:r>
            <a:endParaRPr lang="en-US" sz="1100" dirty="0"/>
          </a:p>
        </p:txBody>
      </p:sp>
      <p:sp>
        <p:nvSpPr>
          <p:cNvPr id="36" name="Text 34"/>
          <p:cNvSpPr/>
          <p:nvPr/>
        </p:nvSpPr>
        <p:spPr>
          <a:xfrm>
            <a:off x="5532120" y="3429000"/>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a:t>
            </a:r>
            <a:endParaRPr lang="en-US" sz="1100" dirty="0"/>
          </a:p>
        </p:txBody>
      </p:sp>
      <p:sp>
        <p:nvSpPr>
          <p:cNvPr id="37" name="Text 35"/>
          <p:cNvSpPr/>
          <p:nvPr/>
        </p:nvSpPr>
        <p:spPr>
          <a:xfrm>
            <a:off x="6629400" y="3429000"/>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€239</a:t>
            </a:r>
            <a:endParaRPr lang="en-US" sz="1100" dirty="0"/>
          </a:p>
        </p:txBody>
      </p:sp>
      <p:sp>
        <p:nvSpPr>
          <p:cNvPr id="38" name="Shape 36"/>
          <p:cNvSpPr/>
          <p:nvPr/>
        </p:nvSpPr>
        <p:spPr>
          <a:xfrm>
            <a:off x="548640" y="3730752"/>
            <a:ext cx="8046720" cy="310896"/>
          </a:xfrm>
          <a:prstGeom prst="roundRect">
            <a:avLst>
              <a:gd name="adj" fmla="val 17647"/>
            </a:avLst>
          </a:prstGeom>
          <a:solidFill>
            <a:srgbClr val="F4F2EE"/>
          </a:solidFill>
          <a:ln w="12700">
            <a:solidFill>
              <a:srgbClr val="F4F2EE"/>
            </a:solidFill>
            <a:prstDash val="solid"/>
          </a:ln>
        </p:spPr>
      </p:sp>
      <p:sp>
        <p:nvSpPr>
          <p:cNvPr id="39" name="Text 37"/>
          <p:cNvSpPr/>
          <p:nvPr/>
        </p:nvSpPr>
        <p:spPr>
          <a:xfrm>
            <a:off x="777240" y="3776472"/>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Comerás flores</a:t>
            </a:r>
            <a:endParaRPr lang="en-US" sz="1100" dirty="0"/>
          </a:p>
        </p:txBody>
      </p:sp>
      <p:sp>
        <p:nvSpPr>
          <p:cNvPr id="40" name="Text 38"/>
          <p:cNvSpPr/>
          <p:nvPr/>
        </p:nvSpPr>
        <p:spPr>
          <a:xfrm>
            <a:off x="4434840" y="3776472"/>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11</a:t>
            </a:r>
            <a:endParaRPr lang="en-US" sz="1100" dirty="0"/>
          </a:p>
        </p:txBody>
      </p:sp>
      <p:sp>
        <p:nvSpPr>
          <p:cNvPr id="41" name="Text 39"/>
          <p:cNvSpPr/>
          <p:nvPr/>
        </p:nvSpPr>
        <p:spPr>
          <a:xfrm>
            <a:off x="5532120" y="3776472"/>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a:t>
            </a:r>
            <a:endParaRPr lang="en-US" sz="1100" dirty="0"/>
          </a:p>
        </p:txBody>
      </p:sp>
      <p:sp>
        <p:nvSpPr>
          <p:cNvPr id="42" name="Text 40"/>
          <p:cNvSpPr/>
          <p:nvPr/>
        </p:nvSpPr>
        <p:spPr>
          <a:xfrm>
            <a:off x="6629400" y="3776472"/>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€219</a:t>
            </a:r>
            <a:endParaRPr lang="en-US" sz="1100" dirty="0"/>
          </a:p>
        </p:txBody>
      </p:sp>
      <p:sp>
        <p:nvSpPr>
          <p:cNvPr id="43" name="Shape 41"/>
          <p:cNvSpPr/>
          <p:nvPr/>
        </p:nvSpPr>
        <p:spPr>
          <a:xfrm>
            <a:off x="548640" y="4078224"/>
            <a:ext cx="8046720" cy="310896"/>
          </a:xfrm>
          <a:prstGeom prst="roundRect">
            <a:avLst>
              <a:gd name="adj" fmla="val 17647"/>
            </a:avLst>
          </a:prstGeom>
          <a:solidFill>
            <a:srgbClr val="FFFFFF"/>
          </a:solidFill>
          <a:ln w="12700">
            <a:solidFill>
              <a:srgbClr val="FFFFFF"/>
            </a:solidFill>
            <a:prstDash val="solid"/>
          </a:ln>
        </p:spPr>
      </p:sp>
      <p:sp>
        <p:nvSpPr>
          <p:cNvPr id="44" name="Text 42"/>
          <p:cNvSpPr/>
          <p:nvPr/>
        </p:nvSpPr>
        <p:spPr>
          <a:xfrm>
            <a:off x="777240" y="4123944"/>
            <a:ext cx="3566160" cy="219456"/>
          </a:xfrm>
          <a:prstGeom prst="rect">
            <a:avLst/>
          </a:prstGeom>
          <a:noFill/>
          <a:ln/>
        </p:spPr>
        <p:txBody>
          <a:bodyPr wrap="square" lIns="0" tIns="0" rIns="0" bIns="0" rtlCol="0" anchor="ctr"/>
          <a:lstStyle/>
          <a:p>
            <a:pPr indent="0" marL="0">
              <a:buNone/>
            </a:pPr>
            <a:r>
              <a:rPr lang="en-US" sz="1100" dirty="0">
                <a:solidFill>
                  <a:srgbClr val="3A3A3A"/>
                </a:solidFill>
                <a:latin typeface="Calibri" pitchFamily="34" charset="0"/>
                <a:ea typeface="Calibri" pitchFamily="34" charset="-122"/>
                <a:cs typeface="Calibri" pitchFamily="34" charset="-120"/>
              </a:rPr>
              <a:t>Misión en París</a:t>
            </a:r>
            <a:endParaRPr lang="en-US" sz="1100" dirty="0"/>
          </a:p>
        </p:txBody>
      </p:sp>
      <p:sp>
        <p:nvSpPr>
          <p:cNvPr id="45" name="Text 43"/>
          <p:cNvSpPr/>
          <p:nvPr/>
        </p:nvSpPr>
        <p:spPr>
          <a:xfrm>
            <a:off x="4434840" y="4123944"/>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9</a:t>
            </a:r>
            <a:endParaRPr lang="en-US" sz="1100" dirty="0"/>
          </a:p>
        </p:txBody>
      </p:sp>
      <p:sp>
        <p:nvSpPr>
          <p:cNvPr id="46" name="Text 44"/>
          <p:cNvSpPr/>
          <p:nvPr/>
        </p:nvSpPr>
        <p:spPr>
          <a:xfrm>
            <a:off x="5532120" y="4123944"/>
            <a:ext cx="1005840" cy="219456"/>
          </a:xfrm>
          <a:prstGeom prst="rect">
            <a:avLst/>
          </a:prstGeom>
          <a:noFill/>
          <a:ln/>
        </p:spPr>
        <p:txBody>
          <a:bodyPr wrap="square" lIns="0" tIns="0" rIns="0" bIns="0" rtlCol="0" anchor="ctr"/>
          <a:lstStyle/>
          <a:p>
            <a:pPr algn="r" indent="0" marL="0">
              <a:buNone/>
            </a:pPr>
            <a:r>
              <a:rPr lang="en-US" sz="1100" dirty="0">
                <a:solidFill>
                  <a:srgbClr val="3A3A3A"/>
                </a:solidFill>
                <a:latin typeface="Calibri" pitchFamily="34" charset="0"/>
                <a:ea typeface="Calibri" pitchFamily="34" charset="-122"/>
                <a:cs typeface="Calibri" pitchFamily="34" charset="-120"/>
              </a:rPr>
              <a:t>1</a:t>
            </a:r>
            <a:endParaRPr lang="en-US" sz="1100" dirty="0"/>
          </a:p>
        </p:txBody>
      </p:sp>
      <p:sp>
        <p:nvSpPr>
          <p:cNvPr id="47" name="Text 45"/>
          <p:cNvSpPr/>
          <p:nvPr/>
        </p:nvSpPr>
        <p:spPr>
          <a:xfrm>
            <a:off x="6629400" y="4123944"/>
            <a:ext cx="1737360" cy="219456"/>
          </a:xfrm>
          <a:prstGeom prst="rect">
            <a:avLst/>
          </a:prstGeom>
          <a:noFill/>
          <a:ln/>
        </p:spPr>
        <p:txBody>
          <a:bodyPr wrap="square" lIns="0" tIns="0" rIns="0" bIns="0" rtlCol="0" anchor="ctr"/>
          <a:lstStyle/>
          <a:p>
            <a:pPr algn="r" indent="0" marL="0">
              <a:buNone/>
            </a:pPr>
            <a:r>
              <a:rPr lang="en-US" sz="1100" b="1" dirty="0">
                <a:solidFill>
                  <a:srgbClr val="004226"/>
                </a:solidFill>
                <a:latin typeface="Calibri" pitchFamily="34" charset="0"/>
                <a:ea typeface="Calibri" pitchFamily="34" charset="-122"/>
                <a:cs typeface="Calibri" pitchFamily="34" charset="-120"/>
              </a:rPr>
              <a:t>€197</a:t>
            </a:r>
            <a:endParaRPr lang="en-US" sz="1100" dirty="0"/>
          </a:p>
        </p:txBody>
      </p:sp>
      <p:sp>
        <p:nvSpPr>
          <p:cNvPr id="48" name="Shape 46"/>
          <p:cNvSpPr/>
          <p:nvPr/>
        </p:nvSpPr>
        <p:spPr>
          <a:xfrm>
            <a:off x="548640" y="4526280"/>
            <a:ext cx="8046720" cy="457200"/>
          </a:xfrm>
          <a:prstGeom prst="roundRect">
            <a:avLst>
              <a:gd name="adj" fmla="val 12000"/>
            </a:avLst>
          </a:prstGeom>
          <a:solidFill>
            <a:srgbClr val="E3EEE8"/>
          </a:solidFill>
          <a:ln w="12700">
            <a:solidFill>
              <a:srgbClr val="E3EEE8"/>
            </a:solidFill>
            <a:prstDash val="solid"/>
          </a:ln>
        </p:spPr>
      </p:sp>
      <p:sp>
        <p:nvSpPr>
          <p:cNvPr id="49" name="Text 47"/>
          <p:cNvSpPr/>
          <p:nvPr/>
        </p:nvSpPr>
        <p:spPr>
          <a:xfrm>
            <a:off x="822960" y="4526280"/>
            <a:ext cx="7589520" cy="457200"/>
          </a:xfrm>
          <a:prstGeom prst="rect">
            <a:avLst/>
          </a:prstGeom>
          <a:noFill/>
          <a:ln/>
        </p:spPr>
        <p:txBody>
          <a:bodyPr wrap="square" lIns="0" tIns="0" rIns="0" bIns="0" rtlCol="0" anchor="ctr"/>
          <a:lstStyle/>
          <a:p>
            <a:pPr indent="0" marL="0">
              <a:buNone/>
            </a:pPr>
            <a:r>
              <a:rPr lang="en-US" sz="1150" b="1" dirty="0">
                <a:solidFill>
                  <a:srgbClr val="004226"/>
                </a:solidFill>
                <a:latin typeface="Calibri" pitchFamily="34" charset="0"/>
                <a:ea typeface="Calibri" pitchFamily="34" charset="-122"/>
                <a:cs typeface="Calibri" pitchFamily="34" charset="-120"/>
              </a:rPr>
              <a:t>Los cuatro primeros facturaron €1.562 en el año y hoy no queda ni un ejemplar de tres de ellos.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4226"/>
        </a:solidFill>
      </p:bgPr>
    </p:bg>
    <p:spTree>
      <p:nvGrpSpPr>
        <p:cNvPr id="1" name=""/>
        <p:cNvGrpSpPr/>
        <p:nvPr/>
      </p:nvGrpSpPr>
      <p:grpSpPr>
        <a:xfrm>
          <a:off x="0" y="0"/>
          <a:ext cx="0" cy="0"/>
          <a:chOff x="0" y="0"/>
          <a:chExt cx="0" cy="0"/>
        </a:xfrm>
      </p:grpSpPr>
      <p:sp>
        <p:nvSpPr>
          <p:cNvPr id="2" name="Text 0"/>
          <p:cNvSpPr/>
          <p:nvPr/>
        </p:nvSpPr>
        <p:spPr>
          <a:xfrm>
            <a:off x="548640" y="457200"/>
            <a:ext cx="8046720" cy="228600"/>
          </a:xfrm>
          <a:prstGeom prst="rect">
            <a:avLst/>
          </a:prstGeom>
          <a:noFill/>
          <a:ln/>
        </p:spPr>
        <p:txBody>
          <a:bodyPr wrap="square" lIns="0" tIns="0" rIns="0" bIns="0" rtlCol="0" anchor="ctr"/>
          <a:lstStyle/>
          <a:p>
            <a:pPr indent="0" marL="0">
              <a:buNone/>
            </a:pPr>
            <a:r>
              <a:rPr lang="en-US" sz="1050" b="1" spc="200" kern="0" dirty="0">
                <a:solidFill>
                  <a:srgbClr val="E2D4CB"/>
                </a:solidFill>
                <a:latin typeface="Calibri" pitchFamily="34" charset="0"/>
                <a:ea typeface="Calibri" pitchFamily="34" charset="-122"/>
                <a:cs typeface="Calibri" pitchFamily="34" charset="-120"/>
              </a:rPr>
              <a:t>QUÉ SIGNIFICA PARA EL EJE 01</a:t>
            </a:r>
            <a:endParaRPr lang="en-US" sz="1050" dirty="0"/>
          </a:p>
        </p:txBody>
      </p:sp>
      <p:sp>
        <p:nvSpPr>
          <p:cNvPr id="3" name="Text 1"/>
          <p:cNvSpPr/>
          <p:nvPr/>
        </p:nvSpPr>
        <p:spPr>
          <a:xfrm>
            <a:off x="548640" y="749808"/>
            <a:ext cx="804672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La meta de caja del plan se queda corta</a:t>
            </a:r>
            <a:endParaRPr lang="en-US" sz="3200" dirty="0"/>
          </a:p>
        </p:txBody>
      </p:sp>
      <p:sp>
        <p:nvSpPr>
          <p:cNvPr id="4" name="Shape 2"/>
          <p:cNvSpPr/>
          <p:nvPr/>
        </p:nvSpPr>
        <p:spPr>
          <a:xfrm>
            <a:off x="548640" y="1572768"/>
            <a:ext cx="3886200" cy="1371600"/>
          </a:xfrm>
          <a:prstGeom prst="roundRect">
            <a:avLst>
              <a:gd name="adj" fmla="val 4000"/>
            </a:avLst>
          </a:prstGeom>
          <a:solidFill>
            <a:srgbClr val="0A5534"/>
          </a:solidFill>
          <a:ln w="12700">
            <a:solidFill>
              <a:srgbClr val="0A5534"/>
            </a:solidFill>
            <a:prstDash val="solid"/>
          </a:ln>
        </p:spPr>
      </p:sp>
      <p:sp>
        <p:nvSpPr>
          <p:cNvPr id="5" name="Text 3"/>
          <p:cNvSpPr/>
          <p:nvPr/>
        </p:nvSpPr>
        <p:spPr>
          <a:xfrm>
            <a:off x="822960" y="1755648"/>
            <a:ext cx="3383280" cy="201168"/>
          </a:xfrm>
          <a:prstGeom prst="rect">
            <a:avLst/>
          </a:prstGeom>
          <a:noFill/>
          <a:ln/>
        </p:spPr>
        <p:txBody>
          <a:bodyPr wrap="square" lIns="0" tIns="0" rIns="0" bIns="0" rtlCol="0" anchor="ctr"/>
          <a:lstStyle/>
          <a:p>
            <a:pPr indent="0" marL="0">
              <a:buNone/>
            </a:pPr>
            <a:r>
              <a:rPr lang="en-US" sz="950" b="1" spc="100" kern="0" dirty="0">
                <a:solidFill>
                  <a:srgbClr val="8FB3A0"/>
                </a:solidFill>
                <a:latin typeface="Calibri" pitchFamily="34" charset="0"/>
                <a:ea typeface="Calibri" pitchFamily="34" charset="-122"/>
                <a:cs typeface="Calibri" pitchFamily="34" charset="-120"/>
              </a:rPr>
              <a:t>META ACTUAL DEL PLAN</a:t>
            </a:r>
            <a:endParaRPr lang="en-US" sz="950" dirty="0"/>
          </a:p>
        </p:txBody>
      </p:sp>
      <p:sp>
        <p:nvSpPr>
          <p:cNvPr id="6" name="Text 4"/>
          <p:cNvSpPr/>
          <p:nvPr/>
        </p:nvSpPr>
        <p:spPr>
          <a:xfrm>
            <a:off x="822960" y="2011680"/>
            <a:ext cx="338328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€8.000 – €12.000</a:t>
            </a:r>
            <a:endParaRPr lang="en-US" sz="2800" dirty="0"/>
          </a:p>
        </p:txBody>
      </p:sp>
      <p:sp>
        <p:nvSpPr>
          <p:cNvPr id="7" name="Text 5"/>
          <p:cNvSpPr/>
          <p:nvPr/>
        </p:nvSpPr>
        <p:spPr>
          <a:xfrm>
            <a:off x="822960" y="2542032"/>
            <a:ext cx="3383280" cy="228600"/>
          </a:xfrm>
          <a:prstGeom prst="rect">
            <a:avLst/>
          </a:prstGeom>
          <a:noFill/>
          <a:ln/>
        </p:spPr>
        <p:txBody>
          <a:bodyPr wrap="square" lIns="0" tIns="0" rIns="0" bIns="0" rtlCol="0" anchor="ctr"/>
          <a:lstStyle/>
          <a:p>
            <a:pPr indent="0" marL="0">
              <a:buNone/>
            </a:pPr>
            <a:r>
              <a:rPr lang="en-US" sz="1100" dirty="0">
                <a:solidFill>
                  <a:srgbClr val="8FB3A0"/>
                </a:solidFill>
                <a:latin typeface="Calibri" pitchFamily="34" charset="0"/>
                <a:ea typeface="Calibri" pitchFamily="34" charset="-122"/>
                <a:cs typeface="Calibri" pitchFamily="34" charset="-120"/>
              </a:rPr>
              <a:t>estimado sin medición</a:t>
            </a:r>
            <a:endParaRPr lang="en-US" sz="1100" dirty="0"/>
          </a:p>
        </p:txBody>
      </p:sp>
      <p:sp>
        <p:nvSpPr>
          <p:cNvPr id="8" name="Shape 6"/>
          <p:cNvSpPr/>
          <p:nvPr/>
        </p:nvSpPr>
        <p:spPr>
          <a:xfrm>
            <a:off x="4709160" y="1572768"/>
            <a:ext cx="3886200" cy="1371600"/>
          </a:xfrm>
          <a:prstGeom prst="roundRect">
            <a:avLst>
              <a:gd name="adj" fmla="val 4000"/>
            </a:avLst>
          </a:prstGeom>
          <a:solidFill>
            <a:srgbClr val="E2D4CB"/>
          </a:solidFill>
          <a:ln w="12700">
            <a:solidFill>
              <a:srgbClr val="E2D4CB"/>
            </a:solidFill>
            <a:prstDash val="solid"/>
          </a:ln>
        </p:spPr>
      </p:sp>
      <p:sp>
        <p:nvSpPr>
          <p:cNvPr id="9" name="Text 7"/>
          <p:cNvSpPr/>
          <p:nvPr/>
        </p:nvSpPr>
        <p:spPr>
          <a:xfrm>
            <a:off x="4983480" y="1755648"/>
            <a:ext cx="3383280" cy="201168"/>
          </a:xfrm>
          <a:prstGeom prst="rect">
            <a:avLst/>
          </a:prstGeom>
          <a:noFill/>
          <a:ln/>
        </p:spPr>
        <p:txBody>
          <a:bodyPr wrap="square" lIns="0" tIns="0" rIns="0" bIns="0" rtlCol="0" anchor="ctr"/>
          <a:lstStyle/>
          <a:p>
            <a:pPr indent="0" marL="0">
              <a:buNone/>
            </a:pPr>
            <a:r>
              <a:rPr lang="en-US" sz="950" b="1" spc="100" kern="0" dirty="0">
                <a:solidFill>
                  <a:srgbClr val="7A6A5E"/>
                </a:solidFill>
                <a:latin typeface="Calibri" pitchFamily="34" charset="0"/>
                <a:ea typeface="Calibri" pitchFamily="34" charset="-122"/>
                <a:cs typeface="Calibri" pitchFamily="34" charset="-120"/>
              </a:rPr>
              <a:t>POTENCIAL SEGÚN EL ANÁLISIS</a:t>
            </a:r>
            <a:endParaRPr lang="en-US" sz="950" dirty="0"/>
          </a:p>
        </p:txBody>
      </p:sp>
      <p:sp>
        <p:nvSpPr>
          <p:cNvPr id="10" name="Text 8"/>
          <p:cNvSpPr/>
          <p:nvPr/>
        </p:nvSpPr>
        <p:spPr>
          <a:xfrm>
            <a:off x="4983480" y="2011680"/>
            <a:ext cx="3383280" cy="502920"/>
          </a:xfrm>
          <a:prstGeom prst="rect">
            <a:avLst/>
          </a:prstGeom>
          <a:noFill/>
          <a:ln/>
        </p:spPr>
        <p:txBody>
          <a:bodyPr wrap="square" lIns="0" tIns="0" rIns="0" bIns="0" rtlCol="0" anchor="ctr"/>
          <a:lstStyle/>
          <a:p>
            <a:pPr indent="0" marL="0">
              <a:buNone/>
            </a:pPr>
            <a:r>
              <a:rPr lang="en-US" sz="2800" b="1" dirty="0">
                <a:solidFill>
                  <a:srgbClr val="004226"/>
                </a:solidFill>
                <a:latin typeface="Calibri" pitchFamily="34" charset="0"/>
                <a:ea typeface="Calibri" pitchFamily="34" charset="-122"/>
                <a:cs typeface="Calibri" pitchFamily="34" charset="-120"/>
              </a:rPr>
              <a:t>€34.414</a:t>
            </a:r>
            <a:endParaRPr lang="en-US" sz="2800" dirty="0"/>
          </a:p>
        </p:txBody>
      </p:sp>
      <p:sp>
        <p:nvSpPr>
          <p:cNvPr id="11" name="Text 9"/>
          <p:cNvSpPr/>
          <p:nvPr/>
        </p:nvSpPr>
        <p:spPr>
          <a:xfrm>
            <a:off x="4983480" y="2542032"/>
            <a:ext cx="3383280" cy="228600"/>
          </a:xfrm>
          <a:prstGeom prst="rect">
            <a:avLst/>
          </a:prstGeom>
          <a:noFill/>
          <a:ln/>
        </p:spPr>
        <p:txBody>
          <a:bodyPr wrap="square" lIns="0" tIns="0" rIns="0" bIns="0" rtlCol="0" anchor="ctr"/>
          <a:lstStyle/>
          <a:p>
            <a:pPr indent="0" marL="0">
              <a:buNone/>
            </a:pPr>
            <a:r>
              <a:rPr lang="en-US" sz="1100" dirty="0">
                <a:solidFill>
                  <a:srgbClr val="7A6A5E"/>
                </a:solidFill>
                <a:latin typeface="Calibri" pitchFamily="34" charset="0"/>
                <a:ea typeface="Calibri" pitchFamily="34" charset="-122"/>
                <a:cs typeface="Calibri" pitchFamily="34" charset="-120"/>
              </a:rPr>
              <a:t>casi el triple del techo previsto</a:t>
            </a:r>
            <a:endParaRPr lang="en-US" sz="1100" dirty="0"/>
          </a:p>
        </p:txBody>
      </p:sp>
      <p:sp>
        <p:nvSpPr>
          <p:cNvPr id="12" name="Text 10"/>
          <p:cNvSpPr/>
          <p:nvPr/>
        </p:nvSpPr>
        <p:spPr>
          <a:xfrm>
            <a:off x="548640" y="3127248"/>
            <a:ext cx="804672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Cómo se compone</a:t>
            </a:r>
            <a:endParaRPr lang="en-US" sz="1500" dirty="0"/>
          </a:p>
        </p:txBody>
      </p:sp>
      <p:sp>
        <p:nvSpPr>
          <p:cNvPr id="13" name="Text 11"/>
          <p:cNvSpPr/>
          <p:nvPr/>
        </p:nvSpPr>
        <p:spPr>
          <a:xfrm>
            <a:off x="566928" y="3493008"/>
            <a:ext cx="3017520" cy="228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Devolución al distribuidor</a:t>
            </a:r>
            <a:endParaRPr lang="en-US" sz="1250" dirty="0"/>
          </a:p>
        </p:txBody>
      </p:sp>
      <p:sp>
        <p:nvSpPr>
          <p:cNvPr id="14" name="Text 12"/>
          <p:cNvSpPr/>
          <p:nvPr/>
        </p:nvSpPr>
        <p:spPr>
          <a:xfrm>
            <a:off x="3611880" y="3493008"/>
            <a:ext cx="1051560" cy="228600"/>
          </a:xfrm>
          <a:prstGeom prst="rect">
            <a:avLst/>
          </a:prstGeom>
          <a:noFill/>
          <a:ln/>
        </p:spPr>
        <p:txBody>
          <a:bodyPr wrap="square" lIns="0" tIns="0" rIns="0" bIns="0" rtlCol="0" anchor="ctr"/>
          <a:lstStyle/>
          <a:p>
            <a:pPr algn="r" indent="0" marL="0">
              <a:buNone/>
            </a:pPr>
            <a:r>
              <a:rPr lang="en-US" sz="1350" b="1" dirty="0">
                <a:solidFill>
                  <a:srgbClr val="E2D4CB"/>
                </a:solidFill>
                <a:latin typeface="Calibri" pitchFamily="34" charset="0"/>
                <a:ea typeface="Calibri" pitchFamily="34" charset="-122"/>
                <a:cs typeface="Calibri" pitchFamily="34" charset="-120"/>
              </a:rPr>
              <a:t>€17.045</a:t>
            </a:r>
            <a:endParaRPr lang="en-US" sz="1350" dirty="0"/>
          </a:p>
        </p:txBody>
      </p:sp>
      <p:sp>
        <p:nvSpPr>
          <p:cNvPr id="15" name="Text 13"/>
          <p:cNvSpPr/>
          <p:nvPr/>
        </p:nvSpPr>
        <p:spPr>
          <a:xfrm>
            <a:off x="4846320" y="3511296"/>
            <a:ext cx="3749040" cy="365760"/>
          </a:xfrm>
          <a:prstGeom prst="rect">
            <a:avLst/>
          </a:prstGeom>
          <a:noFill/>
          <a:ln/>
        </p:spPr>
        <p:txBody>
          <a:bodyPr wrap="square" lIns="0" tIns="0" rIns="0" bIns="0" rtlCol="0" anchor="ctr"/>
          <a:lstStyle/>
          <a:p>
            <a:pPr indent="0" marL="0">
              <a:lnSpc>
                <a:spcPts val="1200"/>
              </a:lnSpc>
              <a:buNone/>
            </a:pPr>
            <a:r>
              <a:rPr lang="en-US" sz="950" dirty="0">
                <a:solidFill>
                  <a:srgbClr val="8FB3A0"/>
                </a:solidFill>
                <a:latin typeface="Calibri" pitchFamily="34" charset="0"/>
                <a:ea typeface="Calibri" pitchFamily="34" charset="-122"/>
                <a:cs typeface="Calibri" pitchFamily="34" charset="-120"/>
              </a:rPr>
              <a:t>1.748 ejemplares · se asume que el depósito reconoce el 60% del PVP</a:t>
            </a:r>
            <a:endParaRPr lang="en-US" sz="950" dirty="0"/>
          </a:p>
        </p:txBody>
      </p:sp>
      <p:sp>
        <p:nvSpPr>
          <p:cNvPr id="16" name="Text 14"/>
          <p:cNvSpPr/>
          <p:nvPr/>
        </p:nvSpPr>
        <p:spPr>
          <a:xfrm>
            <a:off x="566928" y="4096512"/>
            <a:ext cx="3017520" cy="228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Liquidación en tienda</a:t>
            </a:r>
            <a:endParaRPr lang="en-US" sz="1250" dirty="0"/>
          </a:p>
        </p:txBody>
      </p:sp>
      <p:sp>
        <p:nvSpPr>
          <p:cNvPr id="17" name="Text 15"/>
          <p:cNvSpPr/>
          <p:nvPr/>
        </p:nvSpPr>
        <p:spPr>
          <a:xfrm>
            <a:off x="3611880" y="4096512"/>
            <a:ext cx="1051560" cy="228600"/>
          </a:xfrm>
          <a:prstGeom prst="rect">
            <a:avLst/>
          </a:prstGeom>
          <a:noFill/>
          <a:ln/>
        </p:spPr>
        <p:txBody>
          <a:bodyPr wrap="square" lIns="0" tIns="0" rIns="0" bIns="0" rtlCol="0" anchor="ctr"/>
          <a:lstStyle/>
          <a:p>
            <a:pPr algn="r" indent="0" marL="0">
              <a:buNone/>
            </a:pPr>
            <a:r>
              <a:rPr lang="en-US" sz="1350" b="1" dirty="0">
                <a:solidFill>
                  <a:srgbClr val="E2D4CB"/>
                </a:solidFill>
                <a:latin typeface="Calibri" pitchFamily="34" charset="0"/>
                <a:ea typeface="Calibri" pitchFamily="34" charset="-122"/>
                <a:cs typeface="Calibri" pitchFamily="34" charset="-120"/>
              </a:rPr>
              <a:t>€17.369</a:t>
            </a:r>
            <a:endParaRPr lang="en-US" sz="1350" dirty="0"/>
          </a:p>
        </p:txBody>
      </p:sp>
      <p:sp>
        <p:nvSpPr>
          <p:cNvPr id="18" name="Text 16"/>
          <p:cNvSpPr/>
          <p:nvPr/>
        </p:nvSpPr>
        <p:spPr>
          <a:xfrm>
            <a:off x="4846320" y="4114800"/>
            <a:ext cx="3749040" cy="365760"/>
          </a:xfrm>
          <a:prstGeom prst="rect">
            <a:avLst/>
          </a:prstGeom>
          <a:noFill/>
          <a:ln/>
        </p:spPr>
        <p:txBody>
          <a:bodyPr wrap="square" lIns="0" tIns="0" rIns="0" bIns="0" rtlCol="0" anchor="ctr"/>
          <a:lstStyle/>
          <a:p>
            <a:pPr indent="0" marL="0">
              <a:lnSpc>
                <a:spcPts val="1200"/>
              </a:lnSpc>
              <a:buNone/>
            </a:pPr>
            <a:r>
              <a:rPr lang="en-US" sz="950" dirty="0">
                <a:solidFill>
                  <a:srgbClr val="8FB3A0"/>
                </a:solidFill>
                <a:latin typeface="Calibri" pitchFamily="34" charset="0"/>
                <a:ea typeface="Calibri" pitchFamily="34" charset="-122"/>
                <a:cs typeface="Calibri" pitchFamily="34" charset="-120"/>
              </a:rPr>
              <a:t>1.424 ejemplares · se asume un descuento medio del 30%</a:t>
            </a:r>
            <a:endParaRPr lang="en-US" sz="950" dirty="0"/>
          </a:p>
        </p:txBody>
      </p:sp>
      <p:sp>
        <p:nvSpPr>
          <p:cNvPr id="19" name="Text 17"/>
          <p:cNvSpPr/>
          <p:nvPr/>
        </p:nvSpPr>
        <p:spPr>
          <a:xfrm>
            <a:off x="566928" y="4663440"/>
            <a:ext cx="8046720" cy="274320"/>
          </a:xfrm>
          <a:prstGeom prst="rect">
            <a:avLst/>
          </a:prstGeom>
          <a:noFill/>
          <a:ln/>
        </p:spPr>
        <p:txBody>
          <a:bodyPr wrap="square" lIns="0" tIns="0" rIns="0" bIns="0" rtlCol="0" anchor="ctr"/>
          <a:lstStyle/>
          <a:p>
            <a:pPr indent="0" marL="0">
              <a:buNone/>
            </a:pPr>
            <a:r>
              <a:rPr lang="en-US" sz="1000" i="1" dirty="0">
                <a:solidFill>
                  <a:srgbClr val="8FB3A0"/>
                </a:solidFill>
                <a:latin typeface="Calibri" pitchFamily="34" charset="0"/>
                <a:ea typeface="Calibri" pitchFamily="34" charset="-122"/>
                <a:cs typeface="Calibri" pitchFamily="34" charset="-120"/>
              </a:rPr>
              <a:t>Las dos hipótesis de recupero hay que confirmarlas con Trevenque y con los comerciales antes de comprometer la cifra.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8"/>
        </a:solidFill>
      </p:bgPr>
    </p:bg>
    <p:spTree>
      <p:nvGrpSpPr>
        <p:cNvPr id="1" name=""/>
        <p:cNvGrpSpPr/>
        <p:nvPr/>
      </p:nvGrpSpPr>
      <p:grpSpPr>
        <a:xfrm>
          <a:off x="0" y="0"/>
          <a:ext cx="0" cy="0"/>
          <a:chOff x="0" y="0"/>
          <a:chExt cx="0" cy="0"/>
        </a:xfrm>
      </p:grpSpPr>
      <p:sp>
        <p:nvSpPr>
          <p:cNvPr id="2" name="Text 0"/>
          <p:cNvSpPr/>
          <p:nvPr/>
        </p:nvSpPr>
        <p:spPr>
          <a:xfrm>
            <a:off x="548640" y="457200"/>
            <a:ext cx="8046720" cy="548640"/>
          </a:xfrm>
          <a:prstGeom prst="rect">
            <a:avLst/>
          </a:prstGeom>
          <a:noFill/>
          <a:ln/>
        </p:spPr>
        <p:txBody>
          <a:bodyPr wrap="square" lIns="0" tIns="0" rIns="0" bIns="0" rtlCol="0" anchor="ctr"/>
          <a:lstStyle/>
          <a:p>
            <a:pPr indent="0" marL="0">
              <a:buNone/>
            </a:pPr>
            <a:r>
              <a:rPr lang="en-US" sz="3400" b="1" dirty="0">
                <a:solidFill>
                  <a:srgbClr val="004226"/>
                </a:solidFill>
                <a:latin typeface="Calibri" pitchFamily="34" charset="0"/>
                <a:ea typeface="Calibri" pitchFamily="34" charset="-122"/>
                <a:cs typeface="Calibri" pitchFamily="34" charset="-120"/>
              </a:rPr>
              <a:t>Lo que hay que decidir</a:t>
            </a:r>
            <a:endParaRPr lang="en-US" sz="3400" dirty="0"/>
          </a:p>
        </p:txBody>
      </p:sp>
      <p:sp>
        <p:nvSpPr>
          <p:cNvPr id="3" name="Text 1"/>
          <p:cNvSpPr/>
          <p:nvPr/>
        </p:nvSpPr>
        <p:spPr>
          <a:xfrm>
            <a:off x="566928" y="1024128"/>
            <a:ext cx="804672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Cuatro decisiones que salen de este análisis y no estaban en el plan de agosto</a:t>
            </a:r>
            <a:endParaRPr lang="en-US" sz="1300" dirty="0"/>
          </a:p>
        </p:txBody>
      </p:sp>
      <p:sp>
        <p:nvSpPr>
          <p:cNvPr id="4" name="Shape 2"/>
          <p:cNvSpPr/>
          <p:nvPr/>
        </p:nvSpPr>
        <p:spPr>
          <a:xfrm>
            <a:off x="548640" y="1481328"/>
            <a:ext cx="8046720" cy="676656"/>
          </a:xfrm>
          <a:prstGeom prst="roundRect">
            <a:avLst>
              <a:gd name="adj" fmla="val 8108"/>
            </a:avLst>
          </a:prstGeom>
          <a:solidFill>
            <a:srgbClr val="FFFFFF"/>
          </a:solidFill>
          <a:ln w="12700">
            <a:solidFill>
              <a:srgbClr val="E8E6E2"/>
            </a:solidFill>
            <a:prstDash val="solid"/>
          </a:ln>
        </p:spPr>
      </p:sp>
      <p:sp>
        <p:nvSpPr>
          <p:cNvPr id="5" name="Shape 3"/>
          <p:cNvSpPr/>
          <p:nvPr/>
        </p:nvSpPr>
        <p:spPr>
          <a:xfrm>
            <a:off x="777240" y="1655064"/>
            <a:ext cx="347472" cy="347472"/>
          </a:xfrm>
          <a:prstGeom prst="ellipse">
            <a:avLst/>
          </a:prstGeom>
          <a:solidFill>
            <a:srgbClr val="004226"/>
          </a:solidFill>
          <a:ln w="12700">
            <a:solidFill>
              <a:srgbClr val="004226"/>
            </a:solidFill>
            <a:prstDash val="solid"/>
          </a:ln>
        </p:spPr>
      </p:sp>
      <p:sp>
        <p:nvSpPr>
          <p:cNvPr id="6" name="Text 4"/>
          <p:cNvSpPr/>
          <p:nvPr/>
        </p:nvSpPr>
        <p:spPr>
          <a:xfrm>
            <a:off x="777240" y="165506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98448" y="1591056"/>
            <a:ext cx="5120640" cy="237744"/>
          </a:xfrm>
          <a:prstGeom prst="rect">
            <a:avLst/>
          </a:prstGeom>
          <a:noFill/>
          <a:ln/>
        </p:spPr>
        <p:txBody>
          <a:bodyPr wrap="square" lIns="0" tIns="0" rIns="0" bIns="0" rtlCol="0" anchor="ctr"/>
          <a:lstStyle/>
          <a:p>
            <a:pPr indent="0" marL="0">
              <a:buNone/>
            </a:pPr>
            <a:r>
              <a:rPr lang="en-US" sz="1350" b="1" dirty="0">
                <a:solidFill>
                  <a:srgbClr val="004226"/>
                </a:solidFill>
                <a:latin typeface="Calibri" pitchFamily="34" charset="0"/>
                <a:ea typeface="Calibri" pitchFamily="34" charset="-122"/>
                <a:cs typeface="Calibri" pitchFamily="34" charset="-120"/>
              </a:rPr>
              <a:t>Autorizar la devolución masiva</a:t>
            </a:r>
            <a:endParaRPr lang="en-US" sz="1350" dirty="0"/>
          </a:p>
        </p:txBody>
      </p:sp>
      <p:sp>
        <p:nvSpPr>
          <p:cNvPr id="8" name="Text 6"/>
          <p:cNvSpPr/>
          <p:nvPr/>
        </p:nvSpPr>
        <p:spPr>
          <a:xfrm>
            <a:off x="1298448" y="1837944"/>
            <a:ext cx="5760720" cy="256032"/>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1.748 ejemplares sin ninguna venta. Hay que acordar la tasa de recompra con cada distribuidor.</a:t>
            </a:r>
            <a:endParaRPr lang="en-US" sz="1050" dirty="0"/>
          </a:p>
        </p:txBody>
      </p:sp>
      <p:sp>
        <p:nvSpPr>
          <p:cNvPr id="9" name="Shape 7"/>
          <p:cNvSpPr/>
          <p:nvPr/>
        </p:nvSpPr>
        <p:spPr>
          <a:xfrm>
            <a:off x="7269480" y="1664208"/>
            <a:ext cx="1097280" cy="310896"/>
          </a:xfrm>
          <a:prstGeom prst="roundRect">
            <a:avLst>
              <a:gd name="adj" fmla="val 17647"/>
            </a:avLst>
          </a:prstGeom>
          <a:solidFill>
            <a:srgbClr val="E2D4CB"/>
          </a:solidFill>
          <a:ln w="12700">
            <a:solidFill>
              <a:srgbClr val="E2D4CB"/>
            </a:solidFill>
            <a:prstDash val="solid"/>
          </a:ln>
        </p:spPr>
      </p:sp>
      <p:sp>
        <p:nvSpPr>
          <p:cNvPr id="10" name="Text 8"/>
          <p:cNvSpPr/>
          <p:nvPr/>
        </p:nvSpPr>
        <p:spPr>
          <a:xfrm>
            <a:off x="7269480" y="1664208"/>
            <a:ext cx="1097280" cy="310896"/>
          </a:xfrm>
          <a:prstGeom prst="rect">
            <a:avLst/>
          </a:prstGeom>
          <a:noFill/>
          <a:ln/>
        </p:spPr>
        <p:txBody>
          <a:bodyPr wrap="square" lIns="0" tIns="0" rIns="0" bIns="0" rtlCol="0" anchor="ctr"/>
          <a:lstStyle/>
          <a:p>
            <a:pPr algn="ctr" indent="0" marL="0">
              <a:buNone/>
            </a:pPr>
            <a:r>
              <a:rPr lang="en-US" sz="1000" b="1" dirty="0">
                <a:solidFill>
                  <a:srgbClr val="004226"/>
                </a:solidFill>
                <a:latin typeface="Calibri" pitchFamily="34" charset="0"/>
                <a:ea typeface="Calibri" pitchFamily="34" charset="-122"/>
                <a:cs typeface="Calibri" pitchFamily="34" charset="-120"/>
              </a:rPr>
              <a:t>Agosto</a:t>
            </a:r>
            <a:endParaRPr lang="en-US" sz="1000" dirty="0"/>
          </a:p>
        </p:txBody>
      </p:sp>
      <p:sp>
        <p:nvSpPr>
          <p:cNvPr id="11" name="Shape 9"/>
          <p:cNvSpPr/>
          <p:nvPr/>
        </p:nvSpPr>
        <p:spPr>
          <a:xfrm>
            <a:off x="548640" y="2276856"/>
            <a:ext cx="8046720" cy="676656"/>
          </a:xfrm>
          <a:prstGeom prst="roundRect">
            <a:avLst>
              <a:gd name="adj" fmla="val 8108"/>
            </a:avLst>
          </a:prstGeom>
          <a:solidFill>
            <a:srgbClr val="FFFFFF"/>
          </a:solidFill>
          <a:ln w="12700">
            <a:solidFill>
              <a:srgbClr val="E8E6E2"/>
            </a:solidFill>
            <a:prstDash val="solid"/>
          </a:ln>
        </p:spPr>
      </p:sp>
      <p:sp>
        <p:nvSpPr>
          <p:cNvPr id="12" name="Shape 10"/>
          <p:cNvSpPr/>
          <p:nvPr/>
        </p:nvSpPr>
        <p:spPr>
          <a:xfrm>
            <a:off x="777240" y="2450592"/>
            <a:ext cx="347472" cy="347472"/>
          </a:xfrm>
          <a:prstGeom prst="ellipse">
            <a:avLst/>
          </a:prstGeom>
          <a:solidFill>
            <a:srgbClr val="004226"/>
          </a:solidFill>
          <a:ln w="12700">
            <a:solidFill>
              <a:srgbClr val="004226"/>
            </a:solidFill>
            <a:prstDash val="solid"/>
          </a:ln>
        </p:spPr>
      </p:sp>
      <p:sp>
        <p:nvSpPr>
          <p:cNvPr id="13" name="Text 11"/>
          <p:cNvSpPr/>
          <p:nvPr/>
        </p:nvSpPr>
        <p:spPr>
          <a:xfrm>
            <a:off x="777240" y="24505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298448" y="2386584"/>
            <a:ext cx="5120640" cy="237744"/>
          </a:xfrm>
          <a:prstGeom prst="rect">
            <a:avLst/>
          </a:prstGeom>
          <a:noFill/>
          <a:ln/>
        </p:spPr>
        <p:txBody>
          <a:bodyPr wrap="square" lIns="0" tIns="0" rIns="0" bIns="0" rtlCol="0" anchor="ctr"/>
          <a:lstStyle/>
          <a:p>
            <a:pPr indent="0" marL="0">
              <a:buNone/>
            </a:pPr>
            <a:r>
              <a:rPr lang="en-US" sz="1350" b="1" dirty="0">
                <a:solidFill>
                  <a:srgbClr val="004226"/>
                </a:solidFill>
                <a:latin typeface="Calibri" pitchFamily="34" charset="0"/>
                <a:ea typeface="Calibri" pitchFamily="34" charset="-122"/>
                <a:cs typeface="Calibri" pitchFamily="34" charset="-120"/>
              </a:rPr>
              <a:t>Montar la mesa de liquidación</a:t>
            </a:r>
            <a:endParaRPr lang="en-US" sz="1350" dirty="0"/>
          </a:p>
        </p:txBody>
      </p:sp>
      <p:sp>
        <p:nvSpPr>
          <p:cNvPr id="15" name="Text 13"/>
          <p:cNvSpPr/>
          <p:nvPr/>
        </p:nvSpPr>
        <p:spPr>
          <a:xfrm>
            <a:off x="1298448" y="2633472"/>
            <a:ext cx="5760720" cy="256032"/>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616 títulos con ejemplares repetidos. Definir el descuento: 30% es la hipótesis de trabajo.</a:t>
            </a:r>
            <a:endParaRPr lang="en-US" sz="1050" dirty="0"/>
          </a:p>
        </p:txBody>
      </p:sp>
      <p:sp>
        <p:nvSpPr>
          <p:cNvPr id="16" name="Shape 14"/>
          <p:cNvSpPr/>
          <p:nvPr/>
        </p:nvSpPr>
        <p:spPr>
          <a:xfrm>
            <a:off x="7269480" y="2459736"/>
            <a:ext cx="1097280" cy="310896"/>
          </a:xfrm>
          <a:prstGeom prst="roundRect">
            <a:avLst>
              <a:gd name="adj" fmla="val 17647"/>
            </a:avLst>
          </a:prstGeom>
          <a:solidFill>
            <a:srgbClr val="E2D4CB"/>
          </a:solidFill>
          <a:ln w="12700">
            <a:solidFill>
              <a:srgbClr val="E2D4CB"/>
            </a:solidFill>
            <a:prstDash val="solid"/>
          </a:ln>
        </p:spPr>
      </p:sp>
      <p:sp>
        <p:nvSpPr>
          <p:cNvPr id="17" name="Text 15"/>
          <p:cNvSpPr/>
          <p:nvPr/>
        </p:nvSpPr>
        <p:spPr>
          <a:xfrm>
            <a:off x="7269480" y="2459736"/>
            <a:ext cx="1097280" cy="310896"/>
          </a:xfrm>
          <a:prstGeom prst="rect">
            <a:avLst/>
          </a:prstGeom>
          <a:noFill/>
          <a:ln/>
        </p:spPr>
        <p:txBody>
          <a:bodyPr wrap="square" lIns="0" tIns="0" rIns="0" bIns="0" rtlCol="0" anchor="ctr"/>
          <a:lstStyle/>
          <a:p>
            <a:pPr algn="ctr" indent="0" marL="0">
              <a:buNone/>
            </a:pPr>
            <a:r>
              <a:rPr lang="en-US" sz="1000" b="1" dirty="0">
                <a:solidFill>
                  <a:srgbClr val="004226"/>
                </a:solidFill>
                <a:latin typeface="Calibri" pitchFamily="34" charset="0"/>
                <a:ea typeface="Calibri" pitchFamily="34" charset="-122"/>
                <a:cs typeface="Calibri" pitchFamily="34" charset="-120"/>
              </a:rPr>
              <a:t>Agosto</a:t>
            </a:r>
            <a:endParaRPr lang="en-US" sz="1000" dirty="0"/>
          </a:p>
        </p:txBody>
      </p:sp>
      <p:sp>
        <p:nvSpPr>
          <p:cNvPr id="18" name="Shape 16"/>
          <p:cNvSpPr/>
          <p:nvPr/>
        </p:nvSpPr>
        <p:spPr>
          <a:xfrm>
            <a:off x="548640" y="3072384"/>
            <a:ext cx="8046720" cy="676656"/>
          </a:xfrm>
          <a:prstGeom prst="roundRect">
            <a:avLst>
              <a:gd name="adj" fmla="val 8108"/>
            </a:avLst>
          </a:prstGeom>
          <a:solidFill>
            <a:srgbClr val="FFFFFF"/>
          </a:solidFill>
          <a:ln w="12700">
            <a:solidFill>
              <a:srgbClr val="E8E6E2"/>
            </a:solidFill>
            <a:prstDash val="solid"/>
          </a:ln>
        </p:spPr>
      </p:sp>
      <p:sp>
        <p:nvSpPr>
          <p:cNvPr id="19" name="Shape 17"/>
          <p:cNvSpPr/>
          <p:nvPr/>
        </p:nvSpPr>
        <p:spPr>
          <a:xfrm>
            <a:off x="777240" y="3246120"/>
            <a:ext cx="347472" cy="347472"/>
          </a:xfrm>
          <a:prstGeom prst="ellipse">
            <a:avLst/>
          </a:prstGeom>
          <a:solidFill>
            <a:srgbClr val="004226"/>
          </a:solidFill>
          <a:ln w="12700">
            <a:solidFill>
              <a:srgbClr val="004226"/>
            </a:solidFill>
            <a:prstDash val="solid"/>
          </a:ln>
        </p:spPr>
      </p:sp>
      <p:sp>
        <p:nvSpPr>
          <p:cNvPr id="20" name="Text 18"/>
          <p:cNvSpPr/>
          <p:nvPr/>
        </p:nvSpPr>
        <p:spPr>
          <a:xfrm>
            <a:off x="777240" y="32461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182112"/>
            <a:ext cx="5120640" cy="237744"/>
          </a:xfrm>
          <a:prstGeom prst="rect">
            <a:avLst/>
          </a:prstGeom>
          <a:noFill/>
          <a:ln/>
        </p:spPr>
        <p:txBody>
          <a:bodyPr wrap="square" lIns="0" tIns="0" rIns="0" bIns="0" rtlCol="0" anchor="ctr"/>
          <a:lstStyle/>
          <a:p>
            <a:pPr indent="0" marL="0">
              <a:buNone/>
            </a:pPr>
            <a:r>
              <a:rPr lang="en-US" sz="1350" b="1" dirty="0">
                <a:solidFill>
                  <a:srgbClr val="004226"/>
                </a:solidFill>
                <a:latin typeface="Calibri" pitchFamily="34" charset="0"/>
                <a:ea typeface="Calibri" pitchFamily="34" charset="-122"/>
                <a:cs typeface="Calibri" pitchFamily="34" charset="-120"/>
              </a:rPr>
              <a:t>Pedido urgente de reposición</a:t>
            </a:r>
            <a:endParaRPr lang="en-US" sz="1350" dirty="0"/>
          </a:p>
        </p:txBody>
      </p:sp>
      <p:sp>
        <p:nvSpPr>
          <p:cNvPr id="22" name="Text 20"/>
          <p:cNvSpPr/>
          <p:nvPr/>
        </p:nvSpPr>
        <p:spPr>
          <a:xfrm>
            <a:off x="1298448" y="3429000"/>
            <a:ext cx="5760720" cy="256032"/>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39 títulos que venden y están en cero. Es la única acción que sube la venta esta misma semana.</a:t>
            </a:r>
            <a:endParaRPr lang="en-US" sz="1050" dirty="0"/>
          </a:p>
        </p:txBody>
      </p:sp>
      <p:sp>
        <p:nvSpPr>
          <p:cNvPr id="23" name="Shape 21"/>
          <p:cNvSpPr/>
          <p:nvPr/>
        </p:nvSpPr>
        <p:spPr>
          <a:xfrm>
            <a:off x="7269480" y="3255264"/>
            <a:ext cx="1097280" cy="310896"/>
          </a:xfrm>
          <a:prstGeom prst="roundRect">
            <a:avLst>
              <a:gd name="adj" fmla="val 17647"/>
            </a:avLst>
          </a:prstGeom>
          <a:solidFill>
            <a:srgbClr val="E2D4CB"/>
          </a:solidFill>
          <a:ln w="12700">
            <a:solidFill>
              <a:srgbClr val="E2D4CB"/>
            </a:solidFill>
            <a:prstDash val="solid"/>
          </a:ln>
        </p:spPr>
      </p:sp>
      <p:sp>
        <p:nvSpPr>
          <p:cNvPr id="24" name="Text 22"/>
          <p:cNvSpPr/>
          <p:nvPr/>
        </p:nvSpPr>
        <p:spPr>
          <a:xfrm>
            <a:off x="7269480" y="3255264"/>
            <a:ext cx="1097280" cy="310896"/>
          </a:xfrm>
          <a:prstGeom prst="rect">
            <a:avLst/>
          </a:prstGeom>
          <a:noFill/>
          <a:ln/>
        </p:spPr>
        <p:txBody>
          <a:bodyPr wrap="square" lIns="0" tIns="0" rIns="0" bIns="0" rtlCol="0" anchor="ctr"/>
          <a:lstStyle/>
          <a:p>
            <a:pPr algn="ctr" indent="0" marL="0">
              <a:buNone/>
            </a:pPr>
            <a:r>
              <a:rPr lang="en-US" sz="1000" b="1" dirty="0">
                <a:solidFill>
                  <a:srgbClr val="004226"/>
                </a:solidFill>
                <a:latin typeface="Calibri" pitchFamily="34" charset="0"/>
                <a:ea typeface="Calibri" pitchFamily="34" charset="-122"/>
                <a:cs typeface="Calibri" pitchFamily="34" charset="-120"/>
              </a:rPr>
              <a:t>Inmediato</a:t>
            </a:r>
            <a:endParaRPr lang="en-US" sz="1000" dirty="0"/>
          </a:p>
        </p:txBody>
      </p:sp>
      <p:sp>
        <p:nvSpPr>
          <p:cNvPr id="25" name="Shape 23"/>
          <p:cNvSpPr/>
          <p:nvPr/>
        </p:nvSpPr>
        <p:spPr>
          <a:xfrm>
            <a:off x="548640" y="3867912"/>
            <a:ext cx="8046720" cy="676656"/>
          </a:xfrm>
          <a:prstGeom prst="roundRect">
            <a:avLst>
              <a:gd name="adj" fmla="val 8108"/>
            </a:avLst>
          </a:prstGeom>
          <a:solidFill>
            <a:srgbClr val="FFFFFF"/>
          </a:solidFill>
          <a:ln w="12700">
            <a:solidFill>
              <a:srgbClr val="E8E6E2"/>
            </a:solidFill>
            <a:prstDash val="solid"/>
          </a:ln>
        </p:spPr>
      </p:sp>
      <p:sp>
        <p:nvSpPr>
          <p:cNvPr id="26" name="Shape 24"/>
          <p:cNvSpPr/>
          <p:nvPr/>
        </p:nvSpPr>
        <p:spPr>
          <a:xfrm>
            <a:off x="777240" y="4041648"/>
            <a:ext cx="347472" cy="347472"/>
          </a:xfrm>
          <a:prstGeom prst="ellipse">
            <a:avLst/>
          </a:prstGeom>
          <a:solidFill>
            <a:srgbClr val="004226"/>
          </a:solidFill>
          <a:ln w="12700">
            <a:solidFill>
              <a:srgbClr val="004226"/>
            </a:solidFill>
            <a:prstDash val="solid"/>
          </a:ln>
        </p:spPr>
      </p:sp>
      <p:sp>
        <p:nvSpPr>
          <p:cNvPr id="27" name="Text 25"/>
          <p:cNvSpPr/>
          <p:nvPr/>
        </p:nvSpPr>
        <p:spPr>
          <a:xfrm>
            <a:off x="777240" y="40416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1298448" y="3977640"/>
            <a:ext cx="5120640" cy="237744"/>
          </a:xfrm>
          <a:prstGeom prst="rect">
            <a:avLst/>
          </a:prstGeom>
          <a:noFill/>
          <a:ln/>
        </p:spPr>
        <p:txBody>
          <a:bodyPr wrap="square" lIns="0" tIns="0" rIns="0" bIns="0" rtlCol="0" anchor="ctr"/>
          <a:lstStyle/>
          <a:p>
            <a:pPr indent="0" marL="0">
              <a:buNone/>
            </a:pPr>
            <a:r>
              <a:rPr lang="en-US" sz="1350" b="1" dirty="0">
                <a:solidFill>
                  <a:srgbClr val="004226"/>
                </a:solidFill>
                <a:latin typeface="Calibri" pitchFamily="34" charset="0"/>
                <a:ea typeface="Calibri" pitchFamily="34" charset="-122"/>
                <a:cs typeface="Calibri" pitchFamily="34" charset="-120"/>
              </a:rPr>
              <a:t>Regla de compra por rotación</a:t>
            </a:r>
            <a:endParaRPr lang="en-US" sz="1350" dirty="0"/>
          </a:p>
        </p:txBody>
      </p:sp>
      <p:sp>
        <p:nvSpPr>
          <p:cNvPr id="29" name="Text 27"/>
          <p:cNvSpPr/>
          <p:nvPr/>
        </p:nvSpPr>
        <p:spPr>
          <a:xfrm>
            <a:off x="1298448" y="4224528"/>
            <a:ext cx="5760720" cy="256032"/>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Ensayo y arte, de a un ejemplar y por pedido. Narrativa hispanoamericana, reposición automática.</a:t>
            </a:r>
            <a:endParaRPr lang="en-US" sz="1050" dirty="0"/>
          </a:p>
        </p:txBody>
      </p:sp>
      <p:sp>
        <p:nvSpPr>
          <p:cNvPr id="30" name="Shape 28"/>
          <p:cNvSpPr/>
          <p:nvPr/>
        </p:nvSpPr>
        <p:spPr>
          <a:xfrm>
            <a:off x="7269480" y="4050792"/>
            <a:ext cx="1097280" cy="310896"/>
          </a:xfrm>
          <a:prstGeom prst="roundRect">
            <a:avLst>
              <a:gd name="adj" fmla="val 17647"/>
            </a:avLst>
          </a:prstGeom>
          <a:solidFill>
            <a:srgbClr val="E2D4CB"/>
          </a:solidFill>
          <a:ln w="12700">
            <a:solidFill>
              <a:srgbClr val="E2D4CB"/>
            </a:solidFill>
            <a:prstDash val="solid"/>
          </a:ln>
        </p:spPr>
      </p:sp>
      <p:sp>
        <p:nvSpPr>
          <p:cNvPr id="31" name="Text 29"/>
          <p:cNvSpPr/>
          <p:nvPr/>
        </p:nvSpPr>
        <p:spPr>
          <a:xfrm>
            <a:off x="7269480" y="4050792"/>
            <a:ext cx="1097280" cy="310896"/>
          </a:xfrm>
          <a:prstGeom prst="rect">
            <a:avLst/>
          </a:prstGeom>
          <a:noFill/>
          <a:ln/>
        </p:spPr>
        <p:txBody>
          <a:bodyPr wrap="square" lIns="0" tIns="0" rIns="0" bIns="0" rtlCol="0" anchor="ctr"/>
          <a:lstStyle/>
          <a:p>
            <a:pPr algn="ctr" indent="0" marL="0">
              <a:buNone/>
            </a:pPr>
            <a:r>
              <a:rPr lang="en-US" sz="1000" b="1" dirty="0">
                <a:solidFill>
                  <a:srgbClr val="004226"/>
                </a:solidFill>
                <a:latin typeface="Calibri" pitchFamily="34" charset="0"/>
                <a:ea typeface="Calibri" pitchFamily="34" charset="-122"/>
                <a:cs typeface="Calibri" pitchFamily="34" charset="-120"/>
              </a:rPr>
              <a:t>Septiembre</a:t>
            </a:r>
            <a:endParaRPr lang="en-US" sz="1000" dirty="0"/>
          </a:p>
        </p:txBody>
      </p:sp>
      <p:sp>
        <p:nvSpPr>
          <p:cNvPr id="32" name="Text 30"/>
          <p:cNvSpPr/>
          <p:nvPr/>
        </p:nvSpPr>
        <p:spPr>
          <a:xfrm>
            <a:off x="566928" y="4709160"/>
            <a:ext cx="8046720" cy="274320"/>
          </a:xfrm>
          <a:prstGeom prst="rect">
            <a:avLst/>
          </a:prstGeom>
          <a:noFill/>
          <a:ln/>
        </p:spPr>
        <p:txBody>
          <a:bodyPr wrap="square" lIns="0" tIns="0" rIns="0" bIns="0" rtlCol="0" anchor="ctr"/>
          <a:lstStyle/>
          <a:p>
            <a:pPr indent="0" marL="0">
              <a:buNone/>
            </a:pPr>
            <a:r>
              <a:rPr lang="en-US" sz="1050" i="1" dirty="0">
                <a:solidFill>
                  <a:srgbClr val="004226"/>
                </a:solidFill>
                <a:latin typeface="Calibri" pitchFamily="34" charset="0"/>
                <a:ea typeface="Calibri" pitchFamily="34" charset="-122"/>
                <a:cs typeface="Calibri" pitchFamily="34" charset="-120"/>
              </a:rPr>
              <a:t>Este cruce pasa a hacerse todas las semanas de forma automática: el informe llega los lunes con la lista actualizada.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stock y rotación</dc:title>
  <dc:subject>PptxGenJS Presentation</dc:subject>
  <dc:creator>Librería Arenales</dc:creator>
  <cp:lastModifiedBy>Librería Arenales</cp:lastModifiedBy>
  <cp:revision>1</cp:revision>
  <dcterms:created xsi:type="dcterms:W3CDTF">2026-08-13T22:20:21Z</dcterms:created>
  <dcterms:modified xsi:type="dcterms:W3CDTF">2026-08-13T22:20:21Z</dcterms:modified>
</cp:coreProperties>
</file>